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19"/>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9144000"/>
  <p:embeddedFontLst>
    <p:embeddedFont>
      <p:font typeface="Archivo Narrow" panose="020B0604020202020204" charset="0"/>
      <p:regular r:id="rId20"/>
      <p:bold r:id="rId21"/>
      <p:italic r:id="rId22"/>
      <p:boldItalic r:id="rId23"/>
    </p:embeddedFont>
    <p:embeddedFont>
      <p:font typeface="Archivo Narrow Medium" panose="020B0604020202020204" charset="0"/>
      <p:regular r:id="rId24"/>
      <p:bold r:id="rId25"/>
      <p:italic r:id="rId26"/>
      <p:boldItalic r:id="rId27"/>
    </p:embeddedFont>
    <p:embeddedFont>
      <p:font typeface="Georgia" panose="02040502050405020303" pitchFamily="18" charset="0"/>
      <p:regular r:id="rId28"/>
      <p:bold r:id="rId29"/>
      <p:italic r:id="rId30"/>
      <p:boldItalic r:id="rId31"/>
    </p:embeddedFont>
    <p:embeddedFont>
      <p:font typeface="IBM Plex Sans Condensed" panose="020B0506050203000203" pitchFamily="34" charset="0"/>
      <p:regular r:id="rId32"/>
      <p:bold r:id="rId33"/>
      <p:italic r:id="rId34"/>
      <p:boldItalic r:id="rId35"/>
    </p:embeddedFont>
    <p:embeddedFont>
      <p:font typeface="Yellowtail" panose="020B0604020202020204" charset="0"/>
      <p:regular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theme" Target="theme/theme1.xml"/><Relationship Id="rId21" Type="http://schemas.openxmlformats.org/officeDocument/2006/relationships/font" Target="fonts/font2.fntdata"/><Relationship Id="rId34" Type="http://schemas.openxmlformats.org/officeDocument/2006/relationships/font" Target="fonts/font1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 name="Google Shape;7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2"/>
          <p:cNvSpPr txBox="1">
            <a:spLocks noGrp="1"/>
          </p:cNvSpPr>
          <p:nvPr>
            <p:ph type="ctrTitle"/>
          </p:nvPr>
        </p:nvSpPr>
        <p:spPr>
          <a:xfrm>
            <a:off x="415600" y="1886797"/>
            <a:ext cx="11360700" cy="1842900"/>
          </a:xfrm>
          <a:prstGeom prst="rect">
            <a:avLst/>
          </a:prstGeom>
          <a:noFill/>
          <a:ln>
            <a:noFill/>
          </a:ln>
        </p:spPr>
        <p:txBody>
          <a:bodyPr spcFirstLastPara="1" wrap="square" lIns="121900" tIns="121900" rIns="121900" bIns="121900" anchor="b" anchorCtr="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21" name="Google Shape;21;p2"/>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22" name="Google Shape;22;p2"/>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3" name="Google Shape;23;p2"/>
          <p:cNvSpPr/>
          <p:nvPr/>
        </p:nvSpPr>
        <p:spPr>
          <a:xfrm>
            <a:off x="-9450" y="-30350"/>
            <a:ext cx="12209100" cy="7371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4" name="Google Shape;24;p2"/>
          <p:cNvSpPr/>
          <p:nvPr/>
        </p:nvSpPr>
        <p:spPr>
          <a:xfrm>
            <a:off x="-9325" y="154075"/>
            <a:ext cx="12216600" cy="1282500"/>
          </a:xfrm>
          <a:prstGeom prst="roundRect">
            <a:avLst>
              <a:gd name="adj" fmla="val 10177"/>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5" name="Google Shape;25;p2"/>
          <p:cNvSpPr/>
          <p:nvPr/>
        </p:nvSpPr>
        <p:spPr>
          <a:xfrm>
            <a:off x="10763550" y="-30350"/>
            <a:ext cx="868800" cy="1467000"/>
          </a:xfrm>
          <a:prstGeom prst="parallelogram">
            <a:avLst>
              <a:gd name="adj" fmla="val 57856"/>
            </a:avLst>
          </a:prstGeom>
          <a:solidFill>
            <a:srgbClr val="D2AE6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6" name="Google Shape;26;p2"/>
          <p:cNvSpPr/>
          <p:nvPr/>
        </p:nvSpPr>
        <p:spPr>
          <a:xfrm>
            <a:off x="7714000" y="-30350"/>
            <a:ext cx="3841800" cy="1488900"/>
          </a:xfrm>
          <a:prstGeom prst="parallelogram">
            <a:avLst>
              <a:gd name="adj" fmla="val 33925"/>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7" name="Google Shape;27;p2"/>
          <p:cNvSpPr/>
          <p:nvPr/>
        </p:nvSpPr>
        <p:spPr>
          <a:xfrm>
            <a:off x="-9325" y="6604519"/>
            <a:ext cx="12216600" cy="2598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8" name="Google Shape;28;p2"/>
          <p:cNvSpPr/>
          <p:nvPr/>
        </p:nvSpPr>
        <p:spPr>
          <a:xfrm>
            <a:off x="-9325" y="5899575"/>
            <a:ext cx="12216600" cy="737100"/>
          </a:xfrm>
          <a:prstGeom prst="roundRect">
            <a:avLst>
              <a:gd name="adj" fmla="val 10177"/>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9" name="Google Shape;29;p2"/>
          <p:cNvSpPr txBox="1"/>
          <p:nvPr/>
        </p:nvSpPr>
        <p:spPr>
          <a:xfrm>
            <a:off x="381000" y="5899575"/>
            <a:ext cx="3810000" cy="969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GB" sz="1500" b="1" i="0" u="none" strike="noStrike" cap="none">
                <a:solidFill>
                  <a:srgbClr val="D2AE6C"/>
                </a:solidFill>
                <a:latin typeface="Archivo Narrow"/>
                <a:ea typeface="Archivo Narrow"/>
                <a:cs typeface="Archivo Narrow"/>
                <a:sym typeface="Archivo Narrow"/>
              </a:rPr>
              <a:t>Mission</a:t>
            </a:r>
            <a:endParaRPr sz="1500" b="1" i="0" u="none" strike="noStrike" cap="none">
              <a:solidFill>
                <a:srgbClr val="D2AE6C"/>
              </a:solidFill>
              <a:latin typeface="Archivo Narrow"/>
              <a:ea typeface="Archivo Narrow"/>
              <a:cs typeface="Archivo Narrow"/>
              <a:sym typeface="Archivo Narrow"/>
            </a:endParaRPr>
          </a:p>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chemeClr val="lt1"/>
                </a:solidFill>
                <a:latin typeface="Archivo Narrow Medium"/>
                <a:ea typeface="Archivo Narrow Medium"/>
                <a:cs typeface="Archivo Narrow Medium"/>
                <a:sym typeface="Archivo Narrow Medium"/>
              </a:rPr>
              <a:t>Christ University is a nurturing ground for an individual’s holistic development to make effective contribution</a:t>
            </a:r>
            <a:endParaRPr sz="1200" b="0" i="0" u="none" strike="noStrike" cap="none">
              <a:solidFill>
                <a:schemeClr val="lt1"/>
              </a:solidFill>
              <a:latin typeface="Archivo Narrow Medium"/>
              <a:ea typeface="Archivo Narrow Medium"/>
              <a:cs typeface="Archivo Narrow Medium"/>
              <a:sym typeface="Archivo Narrow Medium"/>
            </a:endParaRPr>
          </a:p>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chemeClr val="lt1"/>
                </a:solidFill>
                <a:latin typeface="Archivo Narrow Medium"/>
                <a:ea typeface="Archivo Narrow Medium"/>
                <a:cs typeface="Archivo Narrow Medium"/>
                <a:sym typeface="Archivo Narrow Medium"/>
              </a:rPr>
              <a:t>to the society in a dynamic environment</a:t>
            </a:r>
            <a:endParaRPr sz="1200" b="0" i="0" u="none" strike="noStrike" cap="none">
              <a:solidFill>
                <a:schemeClr val="lt1"/>
              </a:solidFill>
              <a:latin typeface="Archivo Narrow Medium"/>
              <a:ea typeface="Archivo Narrow Medium"/>
              <a:cs typeface="Archivo Narrow Medium"/>
              <a:sym typeface="Archivo Narrow Medium"/>
            </a:endParaRPr>
          </a:p>
        </p:txBody>
      </p:sp>
      <p:sp>
        <p:nvSpPr>
          <p:cNvPr id="30" name="Google Shape;30;p2"/>
          <p:cNvSpPr txBox="1"/>
          <p:nvPr/>
        </p:nvSpPr>
        <p:spPr>
          <a:xfrm>
            <a:off x="4191000" y="5899575"/>
            <a:ext cx="3810000" cy="600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GB" sz="1500" b="1" i="0" u="none" strike="noStrike" cap="none">
                <a:solidFill>
                  <a:srgbClr val="D2AE6C"/>
                </a:solidFill>
                <a:latin typeface="Archivo Narrow"/>
                <a:ea typeface="Archivo Narrow"/>
                <a:cs typeface="Archivo Narrow"/>
                <a:sym typeface="Archivo Narrow"/>
              </a:rPr>
              <a:t>Vision</a:t>
            </a:r>
            <a:endParaRPr sz="1500" b="1" i="0" u="none" strike="noStrike" cap="none">
              <a:solidFill>
                <a:srgbClr val="D2AE6C"/>
              </a:solidFill>
              <a:latin typeface="Archivo Narrow"/>
              <a:ea typeface="Archivo Narrow"/>
              <a:cs typeface="Archivo Narrow"/>
              <a:sym typeface="Archivo Narrow"/>
            </a:endParaRPr>
          </a:p>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chemeClr val="lt1"/>
                </a:solidFill>
                <a:latin typeface="Archivo Narrow Medium"/>
                <a:ea typeface="Archivo Narrow Medium"/>
                <a:cs typeface="Archivo Narrow Medium"/>
                <a:sym typeface="Archivo Narrow Medium"/>
              </a:rPr>
              <a:t>Excellence and Service</a:t>
            </a:r>
            <a:endParaRPr sz="1200" b="0" i="0" u="none" strike="noStrike" cap="none">
              <a:solidFill>
                <a:schemeClr val="lt1"/>
              </a:solidFill>
              <a:latin typeface="Archivo Narrow Medium"/>
              <a:ea typeface="Archivo Narrow Medium"/>
              <a:cs typeface="Archivo Narrow Medium"/>
              <a:sym typeface="Archivo Narrow Medium"/>
            </a:endParaRPr>
          </a:p>
        </p:txBody>
      </p:sp>
      <p:sp>
        <p:nvSpPr>
          <p:cNvPr id="31" name="Google Shape;31;p2"/>
          <p:cNvSpPr txBox="1"/>
          <p:nvPr/>
        </p:nvSpPr>
        <p:spPr>
          <a:xfrm>
            <a:off x="8572600" y="5899575"/>
            <a:ext cx="2983200" cy="969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GB" sz="1500" b="1" i="0" u="none" strike="noStrike" cap="none">
                <a:solidFill>
                  <a:srgbClr val="D2AE6C"/>
                </a:solidFill>
                <a:latin typeface="Archivo Narrow"/>
                <a:ea typeface="Archivo Narrow"/>
                <a:cs typeface="Archivo Narrow"/>
                <a:sym typeface="Archivo Narrow"/>
              </a:rPr>
              <a:t>Core Values</a:t>
            </a:r>
            <a:endParaRPr sz="1500" b="1" i="0" u="none" strike="noStrike" cap="none">
              <a:solidFill>
                <a:srgbClr val="D2AE6C"/>
              </a:solidFill>
              <a:latin typeface="Archivo Narrow"/>
              <a:ea typeface="Archivo Narrow"/>
              <a:cs typeface="Archivo Narrow"/>
              <a:sym typeface="Archivo Narrow"/>
            </a:endParaRPr>
          </a:p>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chemeClr val="lt1"/>
                </a:solidFill>
                <a:latin typeface="Archivo Narrow Medium"/>
                <a:ea typeface="Archivo Narrow Medium"/>
                <a:cs typeface="Archivo Narrow Medium"/>
                <a:sym typeface="Archivo Narrow Medium"/>
              </a:rPr>
              <a:t>Faith in God |  Moral Uprightness</a:t>
            </a:r>
            <a:endParaRPr sz="1200" b="0" i="0" u="none" strike="noStrike" cap="none">
              <a:solidFill>
                <a:schemeClr val="lt1"/>
              </a:solidFill>
              <a:latin typeface="Archivo Narrow Medium"/>
              <a:ea typeface="Archivo Narrow Medium"/>
              <a:cs typeface="Archivo Narrow Medium"/>
              <a:sym typeface="Archivo Narrow Medium"/>
            </a:endParaRPr>
          </a:p>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chemeClr val="lt1"/>
                </a:solidFill>
                <a:latin typeface="Archivo Narrow Medium"/>
                <a:ea typeface="Archivo Narrow Medium"/>
                <a:cs typeface="Archivo Narrow Medium"/>
                <a:sym typeface="Archivo Narrow Medium"/>
              </a:rPr>
              <a:t> Love of Fellow Beings |  Social Responsibility</a:t>
            </a:r>
            <a:br>
              <a:rPr lang="en-GB" sz="1200" b="0" i="0" u="none" strike="noStrike" cap="none">
                <a:solidFill>
                  <a:schemeClr val="lt1"/>
                </a:solidFill>
                <a:latin typeface="Archivo Narrow Medium"/>
                <a:ea typeface="Archivo Narrow Medium"/>
                <a:cs typeface="Archivo Narrow Medium"/>
                <a:sym typeface="Archivo Narrow Medium"/>
              </a:rPr>
            </a:br>
            <a:r>
              <a:rPr lang="en-GB" sz="1200" b="0" i="0" u="none" strike="noStrike" cap="none">
                <a:solidFill>
                  <a:schemeClr val="lt1"/>
                </a:solidFill>
                <a:latin typeface="Archivo Narrow Medium"/>
                <a:ea typeface="Archivo Narrow Medium"/>
                <a:cs typeface="Archivo Narrow Medium"/>
                <a:sym typeface="Archivo Narrow Medium"/>
              </a:rPr>
              <a:t>Pursuit of Excellence</a:t>
            </a:r>
            <a:endParaRPr sz="1200" b="0" i="0" u="none" strike="noStrike" cap="none">
              <a:solidFill>
                <a:schemeClr val="lt1"/>
              </a:solidFill>
              <a:latin typeface="Archivo Narrow Medium"/>
              <a:ea typeface="Archivo Narrow Medium"/>
              <a:cs typeface="Archivo Narrow Medium"/>
              <a:sym typeface="Archivo Narrow Medium"/>
            </a:endParaRPr>
          </a:p>
        </p:txBody>
      </p:sp>
      <p:pic>
        <p:nvPicPr>
          <p:cNvPr id="32" name="Google Shape;32;p2" title="CU logo GBT_25.png"/>
          <p:cNvPicPr preferRelativeResize="0"/>
          <p:nvPr/>
        </p:nvPicPr>
        <p:blipFill>
          <a:blip r:embed="rId2">
            <a:alphaModFix/>
          </a:blip>
          <a:stretch>
            <a:fillRect/>
          </a:stretch>
        </p:blipFill>
        <p:spPr>
          <a:xfrm>
            <a:off x="7954061" y="329612"/>
            <a:ext cx="3118595" cy="10569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3"/>
        <p:cNvGrpSpPr/>
        <p:nvPr/>
      </p:nvGrpSpPr>
      <p:grpSpPr>
        <a:xfrm>
          <a:off x="0" y="0"/>
          <a:ext cx="0" cy="0"/>
          <a:chOff x="0" y="0"/>
          <a:chExt cx="0" cy="0"/>
        </a:xfrm>
      </p:grpSpPr>
      <p:sp>
        <p:nvSpPr>
          <p:cNvPr id="34" name="Google Shape;34;p3"/>
          <p:cNvSpPr txBox="1">
            <a:spLocks noGrp="1"/>
          </p:cNvSpPr>
          <p:nvPr>
            <p:ph type="title"/>
          </p:nvPr>
        </p:nvSpPr>
        <p:spPr>
          <a:xfrm>
            <a:off x="415600" y="491767"/>
            <a:ext cx="113607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200"/>
              <a:buFont typeface="IBM Plex Sans Condensed"/>
              <a:buNone/>
              <a:defRPr>
                <a:latin typeface="IBM Plex Sans Condensed"/>
                <a:ea typeface="IBM Plex Sans Condensed"/>
                <a:cs typeface="IBM Plex Sans Condensed"/>
                <a:sym typeface="IBM Plex Sans Condensed"/>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35" name="Google Shape;35;p3"/>
          <p:cNvSpPr txBox="1">
            <a:spLocks noGrp="1"/>
          </p:cNvSpPr>
          <p:nvPr>
            <p:ph type="body" idx="1"/>
          </p:nvPr>
        </p:nvSpPr>
        <p:spPr>
          <a:xfrm>
            <a:off x="415600" y="1419388"/>
            <a:ext cx="11360700" cy="4672200"/>
          </a:xfrm>
          <a:prstGeom prst="rect">
            <a:avLst/>
          </a:prstGeom>
          <a:noFill/>
          <a:ln>
            <a:noFill/>
          </a:ln>
        </p:spPr>
        <p:txBody>
          <a:bodyPr spcFirstLastPara="1" wrap="square" lIns="121900" tIns="121900" rIns="121900" bIns="121900" anchor="t" anchorCtr="0">
            <a:noAutofit/>
          </a:bodyPr>
          <a:lstStyle>
            <a:lvl1pPr marL="457200" lvl="0" indent="-406400" algn="l">
              <a:lnSpc>
                <a:spcPct val="100000"/>
              </a:lnSpc>
              <a:spcBef>
                <a:spcPts val="0"/>
              </a:spcBef>
              <a:spcAft>
                <a:spcPts val="0"/>
              </a:spcAft>
              <a:buSzPts val="2800"/>
              <a:buFont typeface="IBM Plex Sans Condensed"/>
              <a:buChar char="●"/>
              <a:defRPr>
                <a:latin typeface="IBM Plex Sans Condensed"/>
                <a:ea typeface="IBM Plex Sans Condensed"/>
                <a:cs typeface="IBM Plex Sans Condensed"/>
                <a:sym typeface="IBM Plex Sans Condensed"/>
              </a:defRPr>
            </a:lvl1pPr>
            <a:lvl2pPr marL="914400" lvl="1" indent="-393700" algn="l">
              <a:lnSpc>
                <a:spcPct val="100000"/>
              </a:lnSpc>
              <a:spcBef>
                <a:spcPts val="800"/>
              </a:spcBef>
              <a:spcAft>
                <a:spcPts val="0"/>
              </a:spcAft>
              <a:buSzPts val="2600"/>
              <a:buFont typeface="IBM Plex Sans Condensed"/>
              <a:buChar char="○"/>
              <a:defRPr>
                <a:latin typeface="IBM Plex Sans Condensed"/>
                <a:ea typeface="IBM Plex Sans Condensed"/>
                <a:cs typeface="IBM Plex Sans Condensed"/>
                <a:sym typeface="IBM Plex Sans Condensed"/>
              </a:defRPr>
            </a:lvl2pPr>
            <a:lvl3pPr marL="1371600" lvl="2" indent="-381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3pPr>
            <a:lvl4pPr marL="1828800" lvl="3" indent="-381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4pPr>
            <a:lvl5pPr marL="2286000" lvl="4" indent="-381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5pPr>
            <a:lvl6pPr marL="2743200" lvl="5" indent="-381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6pPr>
            <a:lvl7pPr marL="3200400" lvl="6" indent="-381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7pPr>
            <a:lvl8pPr marL="3657600" lvl="7" indent="-381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8pPr>
            <a:lvl9pPr marL="4114800" lvl="8" indent="-381000" algn="l">
              <a:lnSpc>
                <a:spcPct val="100000"/>
              </a:lnSpc>
              <a:spcBef>
                <a:spcPts val="800"/>
              </a:spcBef>
              <a:spcAft>
                <a:spcPts val="800"/>
              </a:spcAft>
              <a:buSzPts val="2400"/>
              <a:buFont typeface="IBM Plex Sans Condensed"/>
              <a:buChar char="■"/>
              <a:defRPr>
                <a:latin typeface="IBM Plex Sans Condensed"/>
                <a:ea typeface="IBM Plex Sans Condensed"/>
                <a:cs typeface="IBM Plex Sans Condensed"/>
                <a:sym typeface="IBM Plex Sans Condensed"/>
              </a:defRPr>
            </a:lvl9pPr>
          </a:lstStyle>
          <a:p>
            <a:endParaRPr/>
          </a:p>
        </p:txBody>
      </p:sp>
      <p:sp>
        <p:nvSpPr>
          <p:cNvPr id="36" name="Google Shape;36;p3"/>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37" name="Google Shape;37;p3"/>
          <p:cNvSpPr txBox="1"/>
          <p:nvPr/>
        </p:nvSpPr>
        <p:spPr>
          <a:xfrm>
            <a:off x="11585175" y="6515100"/>
            <a:ext cx="532800" cy="2901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4"/>
          <p:cNvSpPr txBox="1">
            <a:spLocks noGrp="1"/>
          </p:cNvSpPr>
          <p:nvPr>
            <p:ph type="title"/>
          </p:nvPr>
        </p:nvSpPr>
        <p:spPr>
          <a:xfrm>
            <a:off x="415600" y="2867800"/>
            <a:ext cx="11360700" cy="1122300"/>
          </a:xfrm>
          <a:prstGeom prst="rect">
            <a:avLst/>
          </a:prstGeom>
          <a:noFill/>
          <a:ln>
            <a:noFill/>
          </a:ln>
        </p:spPr>
        <p:txBody>
          <a:bodyPr spcFirstLastPara="1" wrap="square" lIns="121900" tIns="121900" rIns="121900" bIns="121900"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40" name="Google Shape;40;p4"/>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1"/>
        <p:cNvGrpSpPr/>
        <p:nvPr/>
      </p:nvGrpSpPr>
      <p:grpSpPr>
        <a:xfrm>
          <a:off x="0" y="0"/>
          <a:ext cx="0" cy="0"/>
          <a:chOff x="0" y="0"/>
          <a:chExt cx="0" cy="0"/>
        </a:xfrm>
      </p:grpSpPr>
      <p:sp>
        <p:nvSpPr>
          <p:cNvPr id="42" name="Google Shape;42;p5"/>
          <p:cNvSpPr txBox="1">
            <a:spLocks noGrp="1"/>
          </p:cNvSpPr>
          <p:nvPr>
            <p:ph type="title"/>
          </p:nvPr>
        </p:nvSpPr>
        <p:spPr>
          <a:xfrm>
            <a:off x="415600" y="517167"/>
            <a:ext cx="113607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43" name="Google Shape;43;p5"/>
          <p:cNvSpPr txBox="1">
            <a:spLocks noGrp="1"/>
          </p:cNvSpPr>
          <p:nvPr>
            <p:ph type="body" idx="1"/>
          </p:nvPr>
        </p:nvSpPr>
        <p:spPr>
          <a:xfrm>
            <a:off x="415600" y="1536625"/>
            <a:ext cx="5333100" cy="4751700"/>
          </a:xfrm>
          <a:prstGeom prst="rect">
            <a:avLst/>
          </a:prstGeom>
          <a:noFill/>
          <a:ln>
            <a:noFill/>
          </a:ln>
        </p:spPr>
        <p:txBody>
          <a:bodyPr spcFirstLastPara="1" wrap="square" lIns="121900" tIns="121900" rIns="121900" bIns="121900" anchor="t" anchorCtr="0">
            <a:noAutofit/>
          </a:bodyPr>
          <a:lstStyle>
            <a:lvl1pPr marL="457200" lvl="0" indent="-349250" algn="l">
              <a:lnSpc>
                <a:spcPct val="100000"/>
              </a:lnSpc>
              <a:spcBef>
                <a:spcPts val="0"/>
              </a:spcBef>
              <a:spcAft>
                <a:spcPts val="0"/>
              </a:spcAft>
              <a:buSzPts val="1900"/>
              <a:buChar char="●"/>
              <a:defRPr sz="1900"/>
            </a:lvl1pPr>
            <a:lvl2pPr marL="914400" lvl="1" indent="-330200" algn="l">
              <a:lnSpc>
                <a:spcPct val="100000"/>
              </a:lnSpc>
              <a:spcBef>
                <a:spcPts val="800"/>
              </a:spcBef>
              <a:spcAft>
                <a:spcPts val="0"/>
              </a:spcAft>
              <a:buSzPts val="1600"/>
              <a:buChar char="○"/>
              <a:defRPr sz="1600"/>
            </a:lvl2pPr>
            <a:lvl3pPr marL="1371600" lvl="2" indent="-330200" algn="l">
              <a:lnSpc>
                <a:spcPct val="100000"/>
              </a:lnSpc>
              <a:spcBef>
                <a:spcPts val="800"/>
              </a:spcBef>
              <a:spcAft>
                <a:spcPts val="0"/>
              </a:spcAft>
              <a:buSzPts val="1600"/>
              <a:buChar char="■"/>
              <a:defRPr sz="1600"/>
            </a:lvl3pPr>
            <a:lvl4pPr marL="1828800" lvl="3" indent="-330200" algn="l">
              <a:lnSpc>
                <a:spcPct val="100000"/>
              </a:lnSpc>
              <a:spcBef>
                <a:spcPts val="800"/>
              </a:spcBef>
              <a:spcAft>
                <a:spcPts val="0"/>
              </a:spcAft>
              <a:buSzPts val="1600"/>
              <a:buChar char="●"/>
              <a:defRPr sz="1600"/>
            </a:lvl4pPr>
            <a:lvl5pPr marL="2286000" lvl="4" indent="-330200" algn="l">
              <a:lnSpc>
                <a:spcPct val="100000"/>
              </a:lnSpc>
              <a:spcBef>
                <a:spcPts val="800"/>
              </a:spcBef>
              <a:spcAft>
                <a:spcPts val="0"/>
              </a:spcAft>
              <a:buSzPts val="1600"/>
              <a:buChar char="○"/>
              <a:defRPr sz="1600"/>
            </a:lvl5pPr>
            <a:lvl6pPr marL="2743200" lvl="5" indent="-330200" algn="l">
              <a:lnSpc>
                <a:spcPct val="100000"/>
              </a:lnSpc>
              <a:spcBef>
                <a:spcPts val="800"/>
              </a:spcBef>
              <a:spcAft>
                <a:spcPts val="0"/>
              </a:spcAft>
              <a:buSzPts val="1600"/>
              <a:buChar char="■"/>
              <a:defRPr sz="1600"/>
            </a:lvl6pPr>
            <a:lvl7pPr marL="3200400" lvl="6" indent="-330200" algn="l">
              <a:lnSpc>
                <a:spcPct val="100000"/>
              </a:lnSpc>
              <a:spcBef>
                <a:spcPts val="800"/>
              </a:spcBef>
              <a:spcAft>
                <a:spcPts val="0"/>
              </a:spcAft>
              <a:buSzPts val="1600"/>
              <a:buChar char="●"/>
              <a:defRPr sz="1600"/>
            </a:lvl7pPr>
            <a:lvl8pPr marL="3657600" lvl="7" indent="-330200" algn="l">
              <a:lnSpc>
                <a:spcPct val="100000"/>
              </a:lnSpc>
              <a:spcBef>
                <a:spcPts val="800"/>
              </a:spcBef>
              <a:spcAft>
                <a:spcPts val="0"/>
              </a:spcAft>
              <a:buSzPts val="1600"/>
              <a:buChar char="○"/>
              <a:defRPr sz="1600"/>
            </a:lvl8pPr>
            <a:lvl9pPr marL="4114800" lvl="8" indent="-330200" algn="l">
              <a:lnSpc>
                <a:spcPct val="100000"/>
              </a:lnSpc>
              <a:spcBef>
                <a:spcPts val="800"/>
              </a:spcBef>
              <a:spcAft>
                <a:spcPts val="800"/>
              </a:spcAft>
              <a:buSzPts val="1600"/>
              <a:buChar char="■"/>
              <a:defRPr sz="1600"/>
            </a:lvl9pPr>
          </a:lstStyle>
          <a:p>
            <a:endParaRPr/>
          </a:p>
        </p:txBody>
      </p:sp>
      <p:sp>
        <p:nvSpPr>
          <p:cNvPr id="44" name="Google Shape;44;p5"/>
          <p:cNvSpPr txBox="1">
            <a:spLocks noGrp="1"/>
          </p:cNvSpPr>
          <p:nvPr>
            <p:ph type="body" idx="2"/>
          </p:nvPr>
        </p:nvSpPr>
        <p:spPr>
          <a:xfrm>
            <a:off x="6443200" y="1536625"/>
            <a:ext cx="5333100" cy="4751700"/>
          </a:xfrm>
          <a:prstGeom prst="rect">
            <a:avLst/>
          </a:prstGeom>
          <a:noFill/>
          <a:ln>
            <a:noFill/>
          </a:ln>
        </p:spPr>
        <p:txBody>
          <a:bodyPr spcFirstLastPara="1" wrap="square" lIns="121900" tIns="121900" rIns="121900" bIns="121900" anchor="t" anchorCtr="0">
            <a:noAutofit/>
          </a:bodyPr>
          <a:lstStyle>
            <a:lvl1pPr marL="457200" lvl="0" indent="-349250" algn="l">
              <a:lnSpc>
                <a:spcPct val="100000"/>
              </a:lnSpc>
              <a:spcBef>
                <a:spcPts val="0"/>
              </a:spcBef>
              <a:spcAft>
                <a:spcPts val="0"/>
              </a:spcAft>
              <a:buSzPts val="1900"/>
              <a:buChar char="●"/>
              <a:defRPr sz="1900"/>
            </a:lvl1pPr>
            <a:lvl2pPr marL="914400" lvl="1" indent="-330200" algn="l">
              <a:lnSpc>
                <a:spcPct val="100000"/>
              </a:lnSpc>
              <a:spcBef>
                <a:spcPts val="800"/>
              </a:spcBef>
              <a:spcAft>
                <a:spcPts val="0"/>
              </a:spcAft>
              <a:buSzPts val="1600"/>
              <a:buChar char="○"/>
              <a:defRPr sz="1600"/>
            </a:lvl2pPr>
            <a:lvl3pPr marL="1371600" lvl="2" indent="-330200" algn="l">
              <a:lnSpc>
                <a:spcPct val="100000"/>
              </a:lnSpc>
              <a:spcBef>
                <a:spcPts val="800"/>
              </a:spcBef>
              <a:spcAft>
                <a:spcPts val="0"/>
              </a:spcAft>
              <a:buSzPts val="1600"/>
              <a:buChar char="■"/>
              <a:defRPr sz="1600"/>
            </a:lvl3pPr>
            <a:lvl4pPr marL="1828800" lvl="3" indent="-330200" algn="l">
              <a:lnSpc>
                <a:spcPct val="100000"/>
              </a:lnSpc>
              <a:spcBef>
                <a:spcPts val="800"/>
              </a:spcBef>
              <a:spcAft>
                <a:spcPts val="0"/>
              </a:spcAft>
              <a:buSzPts val="1600"/>
              <a:buChar char="●"/>
              <a:defRPr sz="1600"/>
            </a:lvl4pPr>
            <a:lvl5pPr marL="2286000" lvl="4" indent="-330200" algn="l">
              <a:lnSpc>
                <a:spcPct val="100000"/>
              </a:lnSpc>
              <a:spcBef>
                <a:spcPts val="800"/>
              </a:spcBef>
              <a:spcAft>
                <a:spcPts val="0"/>
              </a:spcAft>
              <a:buSzPts val="1600"/>
              <a:buChar char="○"/>
              <a:defRPr sz="1600"/>
            </a:lvl5pPr>
            <a:lvl6pPr marL="2743200" lvl="5" indent="-330200" algn="l">
              <a:lnSpc>
                <a:spcPct val="100000"/>
              </a:lnSpc>
              <a:spcBef>
                <a:spcPts val="800"/>
              </a:spcBef>
              <a:spcAft>
                <a:spcPts val="0"/>
              </a:spcAft>
              <a:buSzPts val="1600"/>
              <a:buChar char="■"/>
              <a:defRPr sz="1600"/>
            </a:lvl6pPr>
            <a:lvl7pPr marL="3200400" lvl="6" indent="-330200" algn="l">
              <a:lnSpc>
                <a:spcPct val="100000"/>
              </a:lnSpc>
              <a:spcBef>
                <a:spcPts val="800"/>
              </a:spcBef>
              <a:spcAft>
                <a:spcPts val="0"/>
              </a:spcAft>
              <a:buSzPts val="1600"/>
              <a:buChar char="●"/>
              <a:defRPr sz="1600"/>
            </a:lvl7pPr>
            <a:lvl8pPr marL="3657600" lvl="7" indent="-330200" algn="l">
              <a:lnSpc>
                <a:spcPct val="100000"/>
              </a:lnSpc>
              <a:spcBef>
                <a:spcPts val="800"/>
              </a:spcBef>
              <a:spcAft>
                <a:spcPts val="0"/>
              </a:spcAft>
              <a:buSzPts val="1600"/>
              <a:buChar char="○"/>
              <a:defRPr sz="1600"/>
            </a:lvl8pPr>
            <a:lvl9pPr marL="4114800" lvl="8" indent="-330200" algn="l">
              <a:lnSpc>
                <a:spcPct val="100000"/>
              </a:lnSpc>
              <a:spcBef>
                <a:spcPts val="800"/>
              </a:spcBef>
              <a:spcAft>
                <a:spcPts val="800"/>
              </a:spcAft>
              <a:buSzPts val="1600"/>
              <a:buChar char="■"/>
              <a:defRPr sz="1600"/>
            </a:lvl9pPr>
          </a:lstStyle>
          <a:p>
            <a:endParaRPr/>
          </a:p>
        </p:txBody>
      </p:sp>
      <p:sp>
        <p:nvSpPr>
          <p:cNvPr id="45" name="Google Shape;45;p5"/>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46" name="Google Shape;46;p5"/>
          <p:cNvSpPr/>
          <p:nvPr/>
        </p:nvSpPr>
        <p:spPr>
          <a:xfrm rot="10800000">
            <a:off x="-2833" y="-25"/>
            <a:ext cx="122067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6"/>
          <p:cNvSpPr txBox="1">
            <a:spLocks noGrp="1"/>
          </p:cNvSpPr>
          <p:nvPr>
            <p:ph type="title"/>
          </p:nvPr>
        </p:nvSpPr>
        <p:spPr>
          <a:xfrm>
            <a:off x="415600" y="517167"/>
            <a:ext cx="113607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49" name="Google Shape;49;p6"/>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415600" y="740800"/>
            <a:ext cx="7078200" cy="1007700"/>
          </a:xfrm>
          <a:prstGeom prst="rect">
            <a:avLst/>
          </a:prstGeom>
          <a:noFill/>
          <a:ln>
            <a:noFill/>
          </a:ln>
        </p:spPr>
        <p:txBody>
          <a:bodyPr spcFirstLastPara="1" wrap="square" lIns="121900" tIns="121900" rIns="121900" bIns="121900" anchor="b" anchorCtr="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
        <p:nvSpPr>
          <p:cNvPr id="52" name="Google Shape;52;p7"/>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Autofit/>
          </a:bodyPr>
          <a:lstStyle>
            <a:lvl1pPr marL="457200" lvl="0" indent="-330200" algn="l">
              <a:lnSpc>
                <a:spcPct val="100000"/>
              </a:lnSpc>
              <a:spcBef>
                <a:spcPts val="0"/>
              </a:spcBef>
              <a:spcAft>
                <a:spcPts val="0"/>
              </a:spcAft>
              <a:buSzPts val="1600"/>
              <a:buChar char="●"/>
              <a:defRPr sz="1600"/>
            </a:lvl1pPr>
            <a:lvl2pPr marL="914400" lvl="1" indent="-330200" algn="l">
              <a:lnSpc>
                <a:spcPct val="100000"/>
              </a:lnSpc>
              <a:spcBef>
                <a:spcPts val="800"/>
              </a:spcBef>
              <a:spcAft>
                <a:spcPts val="0"/>
              </a:spcAft>
              <a:buSzPts val="1600"/>
              <a:buChar char="○"/>
              <a:defRPr sz="1600"/>
            </a:lvl2pPr>
            <a:lvl3pPr marL="1371600" lvl="2" indent="-330200" algn="l">
              <a:lnSpc>
                <a:spcPct val="100000"/>
              </a:lnSpc>
              <a:spcBef>
                <a:spcPts val="800"/>
              </a:spcBef>
              <a:spcAft>
                <a:spcPts val="0"/>
              </a:spcAft>
              <a:buSzPts val="1600"/>
              <a:buChar char="■"/>
              <a:defRPr sz="1600"/>
            </a:lvl3pPr>
            <a:lvl4pPr marL="1828800" lvl="3" indent="-330200" algn="l">
              <a:lnSpc>
                <a:spcPct val="100000"/>
              </a:lnSpc>
              <a:spcBef>
                <a:spcPts val="800"/>
              </a:spcBef>
              <a:spcAft>
                <a:spcPts val="0"/>
              </a:spcAft>
              <a:buSzPts val="1600"/>
              <a:buChar char="●"/>
              <a:defRPr sz="1600"/>
            </a:lvl4pPr>
            <a:lvl5pPr marL="2286000" lvl="4" indent="-330200" algn="l">
              <a:lnSpc>
                <a:spcPct val="100000"/>
              </a:lnSpc>
              <a:spcBef>
                <a:spcPts val="800"/>
              </a:spcBef>
              <a:spcAft>
                <a:spcPts val="0"/>
              </a:spcAft>
              <a:buSzPts val="1600"/>
              <a:buChar char="○"/>
              <a:defRPr sz="1600"/>
            </a:lvl5pPr>
            <a:lvl6pPr marL="2743200" lvl="5" indent="-330200" algn="l">
              <a:lnSpc>
                <a:spcPct val="100000"/>
              </a:lnSpc>
              <a:spcBef>
                <a:spcPts val="800"/>
              </a:spcBef>
              <a:spcAft>
                <a:spcPts val="0"/>
              </a:spcAft>
              <a:buSzPts val="1600"/>
              <a:buChar char="■"/>
              <a:defRPr sz="1600"/>
            </a:lvl6pPr>
            <a:lvl7pPr marL="3200400" lvl="6" indent="-330200" algn="l">
              <a:lnSpc>
                <a:spcPct val="100000"/>
              </a:lnSpc>
              <a:spcBef>
                <a:spcPts val="800"/>
              </a:spcBef>
              <a:spcAft>
                <a:spcPts val="0"/>
              </a:spcAft>
              <a:buSzPts val="1600"/>
              <a:buChar char="●"/>
              <a:defRPr sz="1600"/>
            </a:lvl7pPr>
            <a:lvl8pPr marL="3657600" lvl="7" indent="-330200" algn="l">
              <a:lnSpc>
                <a:spcPct val="100000"/>
              </a:lnSpc>
              <a:spcBef>
                <a:spcPts val="800"/>
              </a:spcBef>
              <a:spcAft>
                <a:spcPts val="0"/>
              </a:spcAft>
              <a:buSzPts val="1600"/>
              <a:buChar char="○"/>
              <a:defRPr sz="1600"/>
            </a:lvl8pPr>
            <a:lvl9pPr marL="4114800" lvl="8" indent="-330200" algn="l">
              <a:lnSpc>
                <a:spcPct val="100000"/>
              </a:lnSpc>
              <a:spcBef>
                <a:spcPts val="800"/>
              </a:spcBef>
              <a:spcAft>
                <a:spcPts val="800"/>
              </a:spcAft>
              <a:buSzPts val="1600"/>
              <a:buChar char="■"/>
              <a:defRPr sz="1600"/>
            </a:lvl9pPr>
          </a:lstStyle>
          <a:p>
            <a:endParaRPr/>
          </a:p>
        </p:txBody>
      </p:sp>
      <p:sp>
        <p:nvSpPr>
          <p:cNvPr id="53" name="Google Shape;53;p7"/>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653667" y="600200"/>
            <a:ext cx="8490300" cy="5454300"/>
          </a:xfrm>
          <a:prstGeom prst="rect">
            <a:avLst/>
          </a:prstGeom>
          <a:noFill/>
          <a:ln>
            <a:noFill/>
          </a:ln>
        </p:spPr>
        <p:txBody>
          <a:bodyPr spcFirstLastPara="1" wrap="square" lIns="121900" tIns="121900" rIns="121900" bIns="121900"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a:endParaRPr/>
          </a:p>
        </p:txBody>
      </p:sp>
      <p:sp>
        <p:nvSpPr>
          <p:cNvPr id="56" name="Google Shape;56;p8"/>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7"/>
        <p:cNvGrpSpPr/>
        <p:nvPr/>
      </p:nvGrpSpPr>
      <p:grpSpPr>
        <a:xfrm>
          <a:off x="0" y="0"/>
          <a:ext cx="0" cy="0"/>
          <a:chOff x="0" y="0"/>
          <a:chExt cx="0" cy="0"/>
        </a:xfrm>
      </p:grpSpPr>
      <p:sp>
        <p:nvSpPr>
          <p:cNvPr id="58" name="Google Shape;58;p9"/>
          <p:cNvSpPr/>
          <p:nvPr/>
        </p:nvSpPr>
        <p:spPr>
          <a:xfrm>
            <a:off x="6096000" y="272150"/>
            <a:ext cx="6096000" cy="61365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9"/>
          <p:cNvSpPr txBox="1">
            <a:spLocks noGrp="1"/>
          </p:cNvSpPr>
          <p:nvPr>
            <p:ph type="title"/>
          </p:nvPr>
        </p:nvSpPr>
        <p:spPr>
          <a:xfrm>
            <a:off x="354000" y="1644233"/>
            <a:ext cx="5393700" cy="1976400"/>
          </a:xfrm>
          <a:prstGeom prst="rect">
            <a:avLst/>
          </a:prstGeom>
          <a:noFill/>
          <a:ln>
            <a:noFill/>
          </a:ln>
        </p:spPr>
        <p:txBody>
          <a:bodyPr spcFirstLastPara="1" wrap="square" lIns="121900" tIns="121900" rIns="121900" bIns="121900"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60" name="Google Shape;60;p9"/>
          <p:cNvSpPr txBox="1">
            <a:spLocks noGrp="1"/>
          </p:cNvSpPr>
          <p:nvPr>
            <p:ph type="subTitle" idx="1"/>
          </p:nvPr>
        </p:nvSpPr>
        <p:spPr>
          <a:xfrm>
            <a:off x="354000" y="3737433"/>
            <a:ext cx="5393700" cy="1646700"/>
          </a:xfrm>
          <a:prstGeom prst="rect">
            <a:avLst/>
          </a:prstGeom>
          <a:noFill/>
          <a:ln>
            <a:noFill/>
          </a:ln>
        </p:spPr>
        <p:txBody>
          <a:bodyPr spcFirstLastPara="1" wrap="square" lIns="121900" tIns="121900" rIns="121900" bIns="121900"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1" name="Google Shape;61;p9"/>
          <p:cNvSpPr txBox="1">
            <a:spLocks noGrp="1"/>
          </p:cNvSpPr>
          <p:nvPr>
            <p:ph type="body" idx="2"/>
          </p:nvPr>
        </p:nvSpPr>
        <p:spPr>
          <a:xfrm>
            <a:off x="6586000" y="965433"/>
            <a:ext cx="5115900" cy="4926900"/>
          </a:xfrm>
          <a:prstGeom prst="rect">
            <a:avLst/>
          </a:prstGeom>
          <a:noFill/>
          <a:ln>
            <a:noFill/>
          </a:ln>
        </p:spPr>
        <p:txBody>
          <a:bodyPr spcFirstLastPara="1" wrap="square" lIns="121900" tIns="121900" rIns="121900" bIns="121900" anchor="ctr" anchorCtr="0">
            <a:noAutofit/>
          </a:bodyPr>
          <a:lstStyle>
            <a:lvl1pPr marL="457200" lvl="0" indent="-406400" algn="l">
              <a:lnSpc>
                <a:spcPct val="100000"/>
              </a:lnSpc>
              <a:spcBef>
                <a:spcPts val="0"/>
              </a:spcBef>
              <a:spcAft>
                <a:spcPts val="0"/>
              </a:spcAft>
              <a:buSzPts val="2800"/>
              <a:buChar char="●"/>
              <a:defRPr/>
            </a:lvl1pPr>
            <a:lvl2pPr marL="914400" lvl="1" indent="-393700" algn="l">
              <a:lnSpc>
                <a:spcPct val="100000"/>
              </a:lnSpc>
              <a:spcBef>
                <a:spcPts val="800"/>
              </a:spcBef>
              <a:spcAft>
                <a:spcPts val="0"/>
              </a:spcAft>
              <a:buSzPts val="2600"/>
              <a:buChar char="○"/>
              <a:defRPr/>
            </a:lvl2pPr>
            <a:lvl3pPr marL="1371600" lvl="2" indent="-381000" algn="l">
              <a:lnSpc>
                <a:spcPct val="100000"/>
              </a:lnSpc>
              <a:spcBef>
                <a:spcPts val="800"/>
              </a:spcBef>
              <a:spcAft>
                <a:spcPts val="0"/>
              </a:spcAft>
              <a:buSzPts val="2400"/>
              <a:buChar char="■"/>
              <a:defRPr/>
            </a:lvl3pPr>
            <a:lvl4pPr marL="1828800" lvl="3" indent="-381000" algn="l">
              <a:lnSpc>
                <a:spcPct val="100000"/>
              </a:lnSpc>
              <a:spcBef>
                <a:spcPts val="800"/>
              </a:spcBef>
              <a:spcAft>
                <a:spcPts val="0"/>
              </a:spcAft>
              <a:buSzPts val="2400"/>
              <a:buChar char="●"/>
              <a:defRPr/>
            </a:lvl4pPr>
            <a:lvl5pPr marL="2286000" lvl="4" indent="-381000" algn="l">
              <a:lnSpc>
                <a:spcPct val="100000"/>
              </a:lnSpc>
              <a:spcBef>
                <a:spcPts val="800"/>
              </a:spcBef>
              <a:spcAft>
                <a:spcPts val="0"/>
              </a:spcAft>
              <a:buSzPts val="2400"/>
              <a:buChar char="○"/>
              <a:defRPr/>
            </a:lvl5pPr>
            <a:lvl6pPr marL="2743200" lvl="5" indent="-381000" algn="l">
              <a:lnSpc>
                <a:spcPct val="100000"/>
              </a:lnSpc>
              <a:spcBef>
                <a:spcPts val="800"/>
              </a:spcBef>
              <a:spcAft>
                <a:spcPts val="0"/>
              </a:spcAft>
              <a:buSzPts val="2400"/>
              <a:buChar char="■"/>
              <a:defRPr/>
            </a:lvl6pPr>
            <a:lvl7pPr marL="3200400" lvl="6" indent="-381000" algn="l">
              <a:lnSpc>
                <a:spcPct val="100000"/>
              </a:lnSpc>
              <a:spcBef>
                <a:spcPts val="800"/>
              </a:spcBef>
              <a:spcAft>
                <a:spcPts val="0"/>
              </a:spcAft>
              <a:buSzPts val="2400"/>
              <a:buChar char="●"/>
              <a:defRPr/>
            </a:lvl7pPr>
            <a:lvl8pPr marL="3657600" lvl="7" indent="-381000" algn="l">
              <a:lnSpc>
                <a:spcPct val="100000"/>
              </a:lnSpc>
              <a:spcBef>
                <a:spcPts val="800"/>
              </a:spcBef>
              <a:spcAft>
                <a:spcPts val="0"/>
              </a:spcAft>
              <a:buSzPts val="2400"/>
              <a:buChar char="○"/>
              <a:defRPr/>
            </a:lvl8pPr>
            <a:lvl9pPr marL="4114800" lvl="8" indent="-381000" algn="l">
              <a:lnSpc>
                <a:spcPct val="100000"/>
              </a:lnSpc>
              <a:spcBef>
                <a:spcPts val="800"/>
              </a:spcBef>
              <a:spcAft>
                <a:spcPts val="800"/>
              </a:spcAft>
              <a:buSzPts val="2400"/>
              <a:buChar char="■"/>
              <a:defRPr/>
            </a:lvl9pPr>
          </a:lstStyle>
          <a:p>
            <a:endParaRPr/>
          </a:p>
        </p:txBody>
      </p:sp>
      <p:sp>
        <p:nvSpPr>
          <p:cNvPr id="62" name="Google Shape;62;p9"/>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3"/>
        <p:cNvGrpSpPr/>
        <p:nvPr/>
      </p:nvGrpSpPr>
      <p:grpSpPr>
        <a:xfrm>
          <a:off x="0" y="0"/>
          <a:ext cx="0" cy="0"/>
          <a:chOff x="0" y="0"/>
          <a:chExt cx="0" cy="0"/>
        </a:xfrm>
      </p:grpSpPr>
      <p:sp>
        <p:nvSpPr>
          <p:cNvPr id="64" name="Google Shape;64;p10"/>
          <p:cNvSpPr txBox="1">
            <a:spLocks noGrp="1"/>
          </p:cNvSpPr>
          <p:nvPr>
            <p:ph type="body" idx="1"/>
          </p:nvPr>
        </p:nvSpPr>
        <p:spPr>
          <a:xfrm>
            <a:off x="415600" y="5773325"/>
            <a:ext cx="7998300" cy="635100"/>
          </a:xfrm>
          <a:prstGeom prst="rect">
            <a:avLst/>
          </a:prstGeom>
          <a:noFill/>
          <a:ln>
            <a:noFill/>
          </a:ln>
        </p:spPr>
        <p:txBody>
          <a:bodyPr spcFirstLastPara="1" wrap="square" lIns="121900" tIns="121900" rIns="121900" bIns="121900" anchor="ctr" anchorCtr="0">
            <a:noAutofit/>
          </a:bodyPr>
          <a:lstStyle>
            <a:lvl1pPr marL="457200" lvl="0" indent="-228600" algn="l">
              <a:lnSpc>
                <a:spcPct val="100000"/>
              </a:lnSpc>
              <a:spcBef>
                <a:spcPts val="0"/>
              </a:spcBef>
              <a:spcAft>
                <a:spcPts val="0"/>
              </a:spcAft>
              <a:buSzPts val="2800"/>
              <a:buNone/>
              <a:defRPr/>
            </a:lvl1pPr>
          </a:lstStyle>
          <a:p>
            <a:endParaRPr/>
          </a:p>
        </p:txBody>
      </p:sp>
      <p:sp>
        <p:nvSpPr>
          <p:cNvPr id="65" name="Google Shape;65;p10"/>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6"/>
        <p:cNvGrpSpPr/>
        <p:nvPr/>
      </p:nvGrpSpPr>
      <p:grpSpPr>
        <a:xfrm>
          <a:off x="0" y="0"/>
          <a:ext cx="0" cy="0"/>
          <a:chOff x="0" y="0"/>
          <a:chExt cx="0" cy="0"/>
        </a:xfrm>
      </p:grpSpPr>
      <p:sp>
        <p:nvSpPr>
          <p:cNvPr id="67" name="Google Shape;67;p11"/>
          <p:cNvSpPr txBox="1">
            <a:spLocks noGrp="1"/>
          </p:cNvSpPr>
          <p:nvPr>
            <p:ph type="title" hasCustomPrompt="1"/>
          </p:nvPr>
        </p:nvSpPr>
        <p:spPr>
          <a:xfrm>
            <a:off x="415600" y="1474833"/>
            <a:ext cx="11360700" cy="2618100"/>
          </a:xfrm>
          <a:prstGeom prst="rect">
            <a:avLst/>
          </a:prstGeom>
          <a:noFill/>
          <a:ln>
            <a:noFill/>
          </a:ln>
        </p:spPr>
        <p:txBody>
          <a:bodyPr spcFirstLastPara="1" wrap="square" lIns="121900" tIns="121900" rIns="121900" bIns="121900" anchor="b" anchorCtr="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68" name="Google Shape;68;p11"/>
          <p:cNvSpPr txBox="1">
            <a:spLocks noGrp="1"/>
          </p:cNvSpPr>
          <p:nvPr>
            <p:ph type="body" idx="1"/>
          </p:nvPr>
        </p:nvSpPr>
        <p:spPr>
          <a:xfrm>
            <a:off x="415600" y="4202967"/>
            <a:ext cx="11360700" cy="1734300"/>
          </a:xfrm>
          <a:prstGeom prst="rect">
            <a:avLst/>
          </a:prstGeom>
          <a:noFill/>
          <a:ln>
            <a:noFill/>
          </a:ln>
        </p:spPr>
        <p:txBody>
          <a:bodyPr spcFirstLastPara="1" wrap="square" lIns="121900" tIns="121900" rIns="121900" bIns="121900" anchor="t" anchorCtr="0">
            <a:noAutofit/>
          </a:bodyPr>
          <a:lstStyle>
            <a:lvl1pPr marL="457200" lvl="0" indent="-406400" algn="ctr">
              <a:lnSpc>
                <a:spcPct val="100000"/>
              </a:lnSpc>
              <a:spcBef>
                <a:spcPts val="0"/>
              </a:spcBef>
              <a:spcAft>
                <a:spcPts val="0"/>
              </a:spcAft>
              <a:buSzPts val="2800"/>
              <a:buChar char="●"/>
              <a:defRPr/>
            </a:lvl1pPr>
            <a:lvl2pPr marL="914400" lvl="1" indent="-393700" algn="ctr">
              <a:lnSpc>
                <a:spcPct val="100000"/>
              </a:lnSpc>
              <a:spcBef>
                <a:spcPts val="800"/>
              </a:spcBef>
              <a:spcAft>
                <a:spcPts val="0"/>
              </a:spcAft>
              <a:buSzPts val="2600"/>
              <a:buChar char="○"/>
              <a:defRPr/>
            </a:lvl2pPr>
            <a:lvl3pPr marL="1371600" lvl="2" indent="-381000" algn="ctr">
              <a:lnSpc>
                <a:spcPct val="100000"/>
              </a:lnSpc>
              <a:spcBef>
                <a:spcPts val="800"/>
              </a:spcBef>
              <a:spcAft>
                <a:spcPts val="0"/>
              </a:spcAft>
              <a:buSzPts val="2400"/>
              <a:buChar char="■"/>
              <a:defRPr/>
            </a:lvl3pPr>
            <a:lvl4pPr marL="1828800" lvl="3" indent="-381000" algn="ctr">
              <a:lnSpc>
                <a:spcPct val="100000"/>
              </a:lnSpc>
              <a:spcBef>
                <a:spcPts val="800"/>
              </a:spcBef>
              <a:spcAft>
                <a:spcPts val="0"/>
              </a:spcAft>
              <a:buSzPts val="2400"/>
              <a:buChar char="●"/>
              <a:defRPr/>
            </a:lvl4pPr>
            <a:lvl5pPr marL="2286000" lvl="4" indent="-381000" algn="ctr">
              <a:lnSpc>
                <a:spcPct val="100000"/>
              </a:lnSpc>
              <a:spcBef>
                <a:spcPts val="800"/>
              </a:spcBef>
              <a:spcAft>
                <a:spcPts val="0"/>
              </a:spcAft>
              <a:buSzPts val="2400"/>
              <a:buChar char="○"/>
              <a:defRPr/>
            </a:lvl5pPr>
            <a:lvl6pPr marL="2743200" lvl="5" indent="-381000" algn="ctr">
              <a:lnSpc>
                <a:spcPct val="100000"/>
              </a:lnSpc>
              <a:spcBef>
                <a:spcPts val="800"/>
              </a:spcBef>
              <a:spcAft>
                <a:spcPts val="0"/>
              </a:spcAft>
              <a:buSzPts val="2400"/>
              <a:buChar char="■"/>
              <a:defRPr/>
            </a:lvl6pPr>
            <a:lvl7pPr marL="3200400" lvl="6" indent="-381000" algn="ctr">
              <a:lnSpc>
                <a:spcPct val="100000"/>
              </a:lnSpc>
              <a:spcBef>
                <a:spcPts val="800"/>
              </a:spcBef>
              <a:spcAft>
                <a:spcPts val="0"/>
              </a:spcAft>
              <a:buSzPts val="2400"/>
              <a:buChar char="●"/>
              <a:defRPr/>
            </a:lvl7pPr>
            <a:lvl8pPr marL="3657600" lvl="7" indent="-381000" algn="ctr">
              <a:lnSpc>
                <a:spcPct val="100000"/>
              </a:lnSpc>
              <a:spcBef>
                <a:spcPts val="800"/>
              </a:spcBef>
              <a:spcAft>
                <a:spcPts val="0"/>
              </a:spcAft>
              <a:buSzPts val="2400"/>
              <a:buChar char="○"/>
              <a:defRPr/>
            </a:lvl8pPr>
            <a:lvl9pPr marL="4114800" lvl="8" indent="-381000" algn="ctr">
              <a:lnSpc>
                <a:spcPct val="100000"/>
              </a:lnSpc>
              <a:spcBef>
                <a:spcPts val="800"/>
              </a:spcBef>
              <a:spcAft>
                <a:spcPts val="800"/>
              </a:spcAft>
              <a:buSzPts val="2400"/>
              <a:buChar char="■"/>
              <a:defRPr/>
            </a:lvl9pPr>
          </a:lstStyle>
          <a:p>
            <a:endParaRPr/>
          </a:p>
        </p:txBody>
      </p:sp>
      <p:sp>
        <p:nvSpPr>
          <p:cNvPr id="69" name="Google Shape;69;p11"/>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0"/>
        <p:cNvGrpSpPr/>
        <p:nvPr/>
      </p:nvGrpSpPr>
      <p:grpSpPr>
        <a:xfrm>
          <a:off x="0" y="0"/>
          <a:ext cx="0" cy="0"/>
          <a:chOff x="0" y="0"/>
          <a:chExt cx="0" cy="0"/>
        </a:xfrm>
      </p:grpSpPr>
      <p:sp>
        <p:nvSpPr>
          <p:cNvPr id="71" name="Google Shape;71;p12"/>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2"/>
        <p:cNvGrpSpPr/>
        <p:nvPr/>
      </p:nvGrpSpPr>
      <p:grpSpPr>
        <a:xfrm>
          <a:off x="0" y="0"/>
          <a:ext cx="0" cy="0"/>
          <a:chOff x="0" y="0"/>
          <a:chExt cx="0" cy="0"/>
        </a:xfrm>
      </p:grpSpPr>
      <p:sp>
        <p:nvSpPr>
          <p:cNvPr id="73" name="Google Shape;73;p13"/>
          <p:cNvSpPr txBox="1">
            <a:spLocks noGrp="1"/>
          </p:cNvSpPr>
          <p:nvPr>
            <p:ph type="title"/>
          </p:nvPr>
        </p:nvSpPr>
        <p:spPr>
          <a:xfrm>
            <a:off x="691079" y="725951"/>
            <a:ext cx="10325100" cy="14424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3"/>
          <p:cNvSpPr txBox="1">
            <a:spLocks noGrp="1"/>
          </p:cNvSpPr>
          <p:nvPr>
            <p:ph type="body" idx="1"/>
          </p:nvPr>
        </p:nvSpPr>
        <p:spPr>
          <a:xfrm>
            <a:off x="691079" y="2340131"/>
            <a:ext cx="10325100" cy="3564300"/>
          </a:xfrm>
          <a:prstGeom prst="rect">
            <a:avLst/>
          </a:prstGeom>
          <a:noFill/>
          <a:ln>
            <a:noFill/>
          </a:ln>
        </p:spPr>
        <p:txBody>
          <a:bodyPr spcFirstLastPara="1" wrap="square" lIns="91425" tIns="45700" rIns="91425" bIns="45700" anchor="t" anchorCtr="0">
            <a:normAutofit/>
          </a:bodyPr>
          <a:lstStyle>
            <a:lvl1pPr marL="457200" lvl="0" indent="-314325" algn="l">
              <a:lnSpc>
                <a:spcPct val="110000"/>
              </a:lnSpc>
              <a:spcBef>
                <a:spcPts val="1000"/>
              </a:spcBef>
              <a:spcAft>
                <a:spcPts val="0"/>
              </a:spcAft>
              <a:buSzPts val="1350"/>
              <a:buChar char="▪"/>
              <a:defRPr/>
            </a:lvl1pPr>
            <a:lvl2pPr marL="914400" lvl="1" indent="-314325" algn="l">
              <a:lnSpc>
                <a:spcPct val="110000"/>
              </a:lnSpc>
              <a:spcBef>
                <a:spcPts val="500"/>
              </a:spcBef>
              <a:spcAft>
                <a:spcPts val="0"/>
              </a:spcAft>
              <a:buSzPts val="1350"/>
              <a:buChar char="▪"/>
              <a:defRPr/>
            </a:lvl2pPr>
            <a:lvl3pPr marL="1371600" lvl="2" indent="-314325" algn="l">
              <a:lnSpc>
                <a:spcPct val="110000"/>
              </a:lnSpc>
              <a:spcBef>
                <a:spcPts val="500"/>
              </a:spcBef>
              <a:spcAft>
                <a:spcPts val="0"/>
              </a:spcAft>
              <a:buSzPts val="1350"/>
              <a:buChar char="▪"/>
              <a:defRPr/>
            </a:lvl3pPr>
            <a:lvl4pPr marL="1828800" lvl="3" indent="-314325" algn="l">
              <a:lnSpc>
                <a:spcPct val="110000"/>
              </a:lnSpc>
              <a:spcBef>
                <a:spcPts val="500"/>
              </a:spcBef>
              <a:spcAft>
                <a:spcPts val="0"/>
              </a:spcAft>
              <a:buSzPts val="1350"/>
              <a:buChar char="▪"/>
              <a:defRPr/>
            </a:lvl4pPr>
            <a:lvl5pPr marL="2286000" lvl="4" indent="-314325" algn="l">
              <a:lnSpc>
                <a:spcPct val="110000"/>
              </a:lnSpc>
              <a:spcBef>
                <a:spcPts val="500"/>
              </a:spcBef>
              <a:spcAft>
                <a:spcPts val="0"/>
              </a:spcAft>
              <a:buSzPts val="135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3"/>
          <p:cNvSpPr txBox="1">
            <a:spLocks noGrp="1"/>
          </p:cNvSpPr>
          <p:nvPr>
            <p:ph type="sldNum" idx="12"/>
          </p:nvPr>
        </p:nvSpPr>
        <p:spPr>
          <a:xfrm>
            <a:off x="11003649" y="6215870"/>
            <a:ext cx="979200" cy="4170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15600" y="517167"/>
            <a:ext cx="11360700" cy="763500"/>
          </a:xfrm>
          <a:prstGeom prst="rect">
            <a:avLst/>
          </a:prstGeom>
          <a:noFill/>
          <a:ln>
            <a:noFill/>
          </a:ln>
        </p:spPr>
        <p:txBody>
          <a:bodyPr spcFirstLastPara="1" wrap="square" lIns="121900" tIns="121900" rIns="121900" bIns="121900" anchor="t" anchorCtr="0">
            <a:noAutofit/>
          </a:bodyPr>
          <a:lstStyle>
            <a:lvl1pPr marR="0" lvl="0"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1pPr>
            <a:lvl2pPr marR="0" lvl="1"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2pPr>
            <a:lvl3pPr marR="0" lvl="2"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3pPr>
            <a:lvl4pPr marR="0" lvl="3"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4pPr>
            <a:lvl5pPr marR="0" lvl="4"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5pPr>
            <a:lvl6pPr marR="0" lvl="5"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6pPr>
            <a:lvl7pPr marR="0" lvl="6"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7pPr>
            <a:lvl8pPr marR="0" lvl="7"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8pPr>
            <a:lvl9pPr marR="0" lvl="8"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9pPr>
          </a:lstStyle>
          <a:p>
            <a:endParaRPr/>
          </a:p>
        </p:txBody>
      </p:sp>
      <p:sp>
        <p:nvSpPr>
          <p:cNvPr id="11" name="Google Shape;11;p1"/>
          <p:cNvSpPr txBox="1">
            <a:spLocks noGrp="1"/>
          </p:cNvSpPr>
          <p:nvPr>
            <p:ph type="body" idx="1"/>
          </p:nvPr>
        </p:nvSpPr>
        <p:spPr>
          <a:xfrm>
            <a:off x="415600" y="1356875"/>
            <a:ext cx="11360700" cy="4748400"/>
          </a:xfrm>
          <a:prstGeom prst="rect">
            <a:avLst/>
          </a:prstGeom>
          <a:noFill/>
          <a:ln>
            <a:noFill/>
          </a:ln>
        </p:spPr>
        <p:txBody>
          <a:bodyPr spcFirstLastPara="1" wrap="square" lIns="121900" tIns="121900" rIns="121900" bIns="121900" anchor="t" anchorCtr="0">
            <a:noAutofit/>
          </a:bodyPr>
          <a:lstStyle>
            <a:lvl1pPr marL="457200" marR="0" lvl="0" indent="-406400" algn="l" rtl="0">
              <a:lnSpc>
                <a:spcPct val="100000"/>
              </a:lnSpc>
              <a:spcBef>
                <a:spcPts val="0"/>
              </a:spcBef>
              <a:spcAft>
                <a:spcPts val="0"/>
              </a:spcAft>
              <a:buClr>
                <a:srgbClr val="000000"/>
              </a:buClr>
              <a:buSzPts val="2800"/>
              <a:buFont typeface="IBM Plex Sans Condensed"/>
              <a:buChar char="●"/>
              <a:defRPr sz="2800" b="0" i="0" u="none" strike="noStrike" cap="none">
                <a:solidFill>
                  <a:srgbClr val="000000"/>
                </a:solidFill>
                <a:latin typeface="IBM Plex Sans Condensed"/>
                <a:ea typeface="IBM Plex Sans Condensed"/>
                <a:cs typeface="IBM Plex Sans Condensed"/>
                <a:sym typeface="IBM Plex Sans Condensed"/>
              </a:defRPr>
            </a:lvl1pPr>
            <a:lvl2pPr marL="914400" marR="0" lvl="1" indent="-393700" algn="l" rtl="0">
              <a:lnSpc>
                <a:spcPct val="100000"/>
              </a:lnSpc>
              <a:spcBef>
                <a:spcPts val="800"/>
              </a:spcBef>
              <a:spcAft>
                <a:spcPts val="0"/>
              </a:spcAft>
              <a:buClr>
                <a:srgbClr val="000000"/>
              </a:buClr>
              <a:buSzPts val="2600"/>
              <a:buFont typeface="IBM Plex Sans Condensed"/>
              <a:buChar char="○"/>
              <a:defRPr sz="2600" b="0" i="0" u="none" strike="noStrike" cap="none">
                <a:solidFill>
                  <a:srgbClr val="000000"/>
                </a:solidFill>
                <a:latin typeface="IBM Plex Sans Condensed"/>
                <a:ea typeface="IBM Plex Sans Condensed"/>
                <a:cs typeface="IBM Plex Sans Condensed"/>
                <a:sym typeface="IBM Plex Sans Condensed"/>
              </a:defRPr>
            </a:lvl2pPr>
            <a:lvl3pPr marL="1371600" marR="0" lvl="2"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3pPr>
            <a:lvl4pPr marL="1828800" marR="0" lvl="3"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4pPr>
            <a:lvl5pPr marL="2286000" marR="0" lvl="4"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5pPr>
            <a:lvl6pPr marL="2743200" marR="0" lvl="5"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6pPr>
            <a:lvl7pPr marL="3200400" marR="0" lvl="6"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7pPr>
            <a:lvl8pPr marL="3657600" marR="0" lvl="7"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8pPr>
            <a:lvl9pPr marL="4114800" marR="0" lvl="8" indent="-381000" algn="l" rtl="0">
              <a:lnSpc>
                <a:spcPct val="100000"/>
              </a:lnSpc>
              <a:spcBef>
                <a:spcPts val="800"/>
              </a:spcBef>
              <a:spcAft>
                <a:spcPts val="80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9pPr>
          </a:lstStyle>
          <a:p>
            <a:endParaRPr/>
          </a:p>
        </p:txBody>
      </p:sp>
      <p:sp>
        <p:nvSpPr>
          <p:cNvPr id="12" name="Google Shape;12;p1"/>
          <p:cNvSpPr/>
          <p:nvPr/>
        </p:nvSpPr>
        <p:spPr>
          <a:xfrm>
            <a:off x="0" y="-9719"/>
            <a:ext cx="12192000" cy="2619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13" name="Google Shape;13;p1"/>
          <p:cNvSpPr/>
          <p:nvPr/>
        </p:nvSpPr>
        <p:spPr>
          <a:xfrm>
            <a:off x="0" y="6615550"/>
            <a:ext cx="12192000" cy="2619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14" name="Google Shape;14;p1"/>
          <p:cNvSpPr/>
          <p:nvPr/>
        </p:nvSpPr>
        <p:spPr>
          <a:xfrm>
            <a:off x="-50" y="6387300"/>
            <a:ext cx="12192000" cy="353400"/>
          </a:xfrm>
          <a:prstGeom prst="roundRect">
            <a:avLst>
              <a:gd name="adj" fmla="val 16667"/>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15" name="Google Shape;15;p1"/>
          <p:cNvSpPr txBox="1"/>
          <p:nvPr/>
        </p:nvSpPr>
        <p:spPr>
          <a:xfrm rot="-462626">
            <a:off x="8825224" y="6371287"/>
            <a:ext cx="1824597" cy="43110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D2AE6C"/>
                </a:solidFill>
                <a:latin typeface="Yellowtail"/>
                <a:ea typeface="Yellowtail"/>
                <a:cs typeface="Yellowtail"/>
                <a:sym typeface="Yellowtail"/>
              </a:rPr>
              <a:t>Excellence &amp; Service</a:t>
            </a:r>
            <a:endParaRPr sz="1600" b="0" i="0" u="none" strike="noStrike" cap="none">
              <a:solidFill>
                <a:srgbClr val="D2AE6C"/>
              </a:solidFill>
              <a:latin typeface="Yellowtail"/>
              <a:ea typeface="Yellowtail"/>
              <a:cs typeface="Yellowtail"/>
              <a:sym typeface="Yellowtail"/>
            </a:endParaRPr>
          </a:p>
        </p:txBody>
      </p:sp>
      <p:sp>
        <p:nvSpPr>
          <p:cNvPr id="16" name="Google Shape;16;p1"/>
          <p:cNvSpPr txBox="1"/>
          <p:nvPr/>
        </p:nvSpPr>
        <p:spPr>
          <a:xfrm rot="1419">
            <a:off x="6067858" y="6448425"/>
            <a:ext cx="29064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400"/>
              <a:buFont typeface="Arial"/>
              <a:buNone/>
            </a:pPr>
            <a:r>
              <a:rPr lang="en-GB" sz="1400" b="0" i="0" u="none" strike="noStrike" cap="none">
                <a:solidFill>
                  <a:srgbClr val="CCCCCC"/>
                </a:solidFill>
                <a:latin typeface="Archivo Narrow"/>
                <a:ea typeface="Archivo Narrow"/>
                <a:cs typeface="Archivo Narrow"/>
                <a:sym typeface="Archivo Narrow"/>
              </a:rPr>
              <a:t>CHRIST (Deemed to be University)</a:t>
            </a:r>
            <a:endParaRPr sz="1400" b="0" i="0" u="none" strike="noStrike" cap="none">
              <a:solidFill>
                <a:srgbClr val="CCCCCC"/>
              </a:solidFill>
              <a:latin typeface="Archivo Narrow"/>
              <a:ea typeface="Archivo Narrow"/>
              <a:cs typeface="Archivo Narrow"/>
              <a:sym typeface="Archivo Narrow"/>
            </a:endParaRPr>
          </a:p>
        </p:txBody>
      </p:sp>
      <p:sp>
        <p:nvSpPr>
          <p:cNvPr id="17" name="Google Shape;17;p1"/>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18" name="Google Shape;18;p1" title="CU logo crest Gold.png"/>
          <p:cNvPicPr preferRelativeResize="0"/>
          <p:nvPr/>
        </p:nvPicPr>
        <p:blipFill>
          <a:blip r:embed="rId14">
            <a:alphaModFix amt="3000"/>
          </a:blip>
          <a:stretch>
            <a:fillRect/>
          </a:stretch>
        </p:blipFill>
        <p:spPr>
          <a:xfrm>
            <a:off x="8140250" y="2136400"/>
            <a:ext cx="3984660" cy="39688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9"/>
        <p:cNvGrpSpPr/>
        <p:nvPr/>
      </p:nvGrpSpPr>
      <p:grpSpPr>
        <a:xfrm>
          <a:off x="0" y="0"/>
          <a:ext cx="0" cy="0"/>
          <a:chOff x="0" y="0"/>
          <a:chExt cx="0" cy="0"/>
        </a:xfrm>
      </p:grpSpPr>
      <p:sp>
        <p:nvSpPr>
          <p:cNvPr id="81" name="Google Shape;81;p14"/>
          <p:cNvSpPr txBox="1">
            <a:spLocks noGrp="1"/>
          </p:cNvSpPr>
          <p:nvPr>
            <p:ph type="ctrTitle"/>
          </p:nvPr>
        </p:nvSpPr>
        <p:spPr>
          <a:xfrm>
            <a:off x="415650" y="2005321"/>
            <a:ext cx="11360700" cy="1673706"/>
          </a:xfrm>
          <a:prstGeom prst="rect">
            <a:avLst/>
          </a:prstGeom>
        </p:spPr>
        <p:txBody>
          <a:bodyPr spcFirstLastPara="1" wrap="square" lIns="121900" tIns="121900" rIns="121900" bIns="121900" anchor="b" anchorCtr="0">
            <a:noAutofit/>
          </a:bodyPr>
          <a:lstStyle/>
          <a:p>
            <a:pPr marL="0" lvl="0" indent="0" algn="ctr" rtl="0">
              <a:spcBef>
                <a:spcPts val="0"/>
              </a:spcBef>
              <a:spcAft>
                <a:spcPts val="0"/>
              </a:spcAft>
              <a:buNone/>
            </a:pPr>
            <a:r>
              <a:rPr lang="en-IN" dirty="0"/>
              <a:t>Quantum-Safe Hybrid Privacy-Preserving Federated Learning</a:t>
            </a:r>
            <a:endParaRPr dirty="0"/>
          </a:p>
        </p:txBody>
      </p:sp>
      <p:sp>
        <p:nvSpPr>
          <p:cNvPr id="82" name="Google Shape;82;p14"/>
          <p:cNvSpPr txBox="1">
            <a:spLocks noGrp="1"/>
          </p:cNvSpPr>
          <p:nvPr>
            <p:ph type="subTitle" idx="1"/>
          </p:nvPr>
        </p:nvSpPr>
        <p:spPr>
          <a:xfrm>
            <a:off x="308196" y="4647867"/>
            <a:ext cx="4740862" cy="1569555"/>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None/>
            </a:pPr>
            <a:r>
              <a:rPr lang="en-IN" sz="2400" b="1" dirty="0"/>
              <a:t>Students Name: Samuel Joseph S</a:t>
            </a:r>
          </a:p>
          <a:p>
            <a:pPr marL="0" lvl="0" indent="0" algn="l" rtl="0">
              <a:spcBef>
                <a:spcPts val="0"/>
              </a:spcBef>
              <a:spcAft>
                <a:spcPts val="0"/>
              </a:spcAft>
              <a:buNone/>
            </a:pPr>
            <a:r>
              <a:rPr lang="en-IN" sz="2400" b="1" dirty="0"/>
              <a:t>Reg No: 2362637</a:t>
            </a:r>
          </a:p>
          <a:p>
            <a:pPr marL="0" lvl="0" indent="0" algn="l" rtl="0">
              <a:spcBef>
                <a:spcPts val="0"/>
              </a:spcBef>
              <a:spcAft>
                <a:spcPts val="0"/>
              </a:spcAft>
              <a:buNone/>
            </a:pPr>
            <a:r>
              <a:rPr lang="en-IN" sz="2400" b="1" dirty="0"/>
              <a:t>Class: 6BTCS-B</a:t>
            </a:r>
          </a:p>
        </p:txBody>
      </p:sp>
      <p:sp>
        <p:nvSpPr>
          <p:cNvPr id="2" name="Google Shape;82;p14">
            <a:extLst>
              <a:ext uri="{FF2B5EF4-FFF2-40B4-BE49-F238E27FC236}">
                <a16:creationId xmlns:a16="http://schemas.microsoft.com/office/drawing/2014/main" id="{679E51EF-5E78-847E-9FBD-5C25D6147739}"/>
              </a:ext>
            </a:extLst>
          </p:cNvPr>
          <p:cNvSpPr txBox="1">
            <a:spLocks/>
          </p:cNvSpPr>
          <p:nvPr/>
        </p:nvSpPr>
        <p:spPr>
          <a:xfrm>
            <a:off x="6709180" y="4647867"/>
            <a:ext cx="5724775" cy="126273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406400" algn="ctr" rtl="0">
              <a:lnSpc>
                <a:spcPct val="100000"/>
              </a:lnSpc>
              <a:spcBef>
                <a:spcPts val="0"/>
              </a:spcBef>
              <a:spcAft>
                <a:spcPts val="0"/>
              </a:spcAft>
              <a:buClr>
                <a:srgbClr val="000000"/>
              </a:buClr>
              <a:buSzPts val="3600"/>
              <a:buFont typeface="IBM Plex Sans Condensed"/>
              <a:buNone/>
              <a:defRPr sz="3600" b="0" i="0" u="none" strike="noStrike" cap="none">
                <a:solidFill>
                  <a:srgbClr val="000000"/>
                </a:solidFill>
                <a:latin typeface="IBM Plex Sans Condensed"/>
                <a:ea typeface="IBM Plex Sans Condensed"/>
                <a:cs typeface="IBM Plex Sans Condensed"/>
                <a:sym typeface="IBM Plex Sans Condensed"/>
              </a:defRPr>
            </a:lvl1pPr>
            <a:lvl2pPr marL="914400" marR="0" lvl="1" indent="-393700" algn="ctr" rtl="0">
              <a:lnSpc>
                <a:spcPct val="100000"/>
              </a:lnSpc>
              <a:spcBef>
                <a:spcPts val="0"/>
              </a:spcBef>
              <a:spcAft>
                <a:spcPts val="0"/>
              </a:spcAft>
              <a:buClr>
                <a:srgbClr val="000000"/>
              </a:buClr>
              <a:buSzPts val="3700"/>
              <a:buFont typeface="IBM Plex Sans Condensed"/>
              <a:buNone/>
              <a:defRPr sz="3700" b="0" i="0" u="none" strike="noStrike" cap="none">
                <a:solidFill>
                  <a:srgbClr val="000000"/>
                </a:solidFill>
                <a:latin typeface="IBM Plex Sans Condensed"/>
                <a:ea typeface="IBM Plex Sans Condensed"/>
                <a:cs typeface="IBM Plex Sans Condensed"/>
                <a:sym typeface="IBM Plex Sans Condensed"/>
              </a:defRPr>
            </a:lvl2pPr>
            <a:lvl3pPr marL="1371600" marR="0" lvl="2" indent="-381000" algn="ctr" rtl="0">
              <a:lnSpc>
                <a:spcPct val="100000"/>
              </a:lnSpc>
              <a:spcBef>
                <a:spcPts val="0"/>
              </a:spcBef>
              <a:spcAft>
                <a:spcPts val="0"/>
              </a:spcAft>
              <a:buClr>
                <a:srgbClr val="000000"/>
              </a:buClr>
              <a:buSzPts val="3700"/>
              <a:buFont typeface="Archivo Narrow"/>
              <a:buNone/>
              <a:defRPr sz="3700" b="0" i="0" u="none" strike="noStrike" cap="none">
                <a:solidFill>
                  <a:srgbClr val="000000"/>
                </a:solidFill>
                <a:latin typeface="Archivo Narrow"/>
                <a:ea typeface="Archivo Narrow"/>
                <a:cs typeface="Archivo Narrow"/>
                <a:sym typeface="Archivo Narrow"/>
              </a:defRPr>
            </a:lvl3pPr>
            <a:lvl4pPr marL="1828800" marR="0" lvl="3" indent="-381000" algn="ctr" rtl="0">
              <a:lnSpc>
                <a:spcPct val="100000"/>
              </a:lnSpc>
              <a:spcBef>
                <a:spcPts val="0"/>
              </a:spcBef>
              <a:spcAft>
                <a:spcPts val="0"/>
              </a:spcAft>
              <a:buClr>
                <a:srgbClr val="000000"/>
              </a:buClr>
              <a:buSzPts val="3700"/>
              <a:buFont typeface="Archivo Narrow"/>
              <a:buNone/>
              <a:defRPr sz="3700" b="0" i="0" u="none" strike="noStrike" cap="none">
                <a:solidFill>
                  <a:srgbClr val="000000"/>
                </a:solidFill>
                <a:latin typeface="Archivo Narrow"/>
                <a:ea typeface="Archivo Narrow"/>
                <a:cs typeface="Archivo Narrow"/>
                <a:sym typeface="Archivo Narrow"/>
              </a:defRPr>
            </a:lvl4pPr>
            <a:lvl5pPr marL="2286000" marR="0" lvl="4" indent="-381000" algn="ctr" rtl="0">
              <a:lnSpc>
                <a:spcPct val="100000"/>
              </a:lnSpc>
              <a:spcBef>
                <a:spcPts val="0"/>
              </a:spcBef>
              <a:spcAft>
                <a:spcPts val="0"/>
              </a:spcAft>
              <a:buClr>
                <a:srgbClr val="000000"/>
              </a:buClr>
              <a:buSzPts val="3700"/>
              <a:buFont typeface="Archivo Narrow"/>
              <a:buNone/>
              <a:defRPr sz="3700" b="0" i="0" u="none" strike="noStrike" cap="none">
                <a:solidFill>
                  <a:srgbClr val="000000"/>
                </a:solidFill>
                <a:latin typeface="Archivo Narrow"/>
                <a:ea typeface="Archivo Narrow"/>
                <a:cs typeface="Archivo Narrow"/>
                <a:sym typeface="Archivo Narrow"/>
              </a:defRPr>
            </a:lvl5pPr>
            <a:lvl6pPr marL="2743200" marR="0" lvl="5" indent="-381000" algn="ctr" rtl="0">
              <a:lnSpc>
                <a:spcPct val="100000"/>
              </a:lnSpc>
              <a:spcBef>
                <a:spcPts val="0"/>
              </a:spcBef>
              <a:spcAft>
                <a:spcPts val="0"/>
              </a:spcAft>
              <a:buClr>
                <a:srgbClr val="000000"/>
              </a:buClr>
              <a:buSzPts val="3700"/>
              <a:buFont typeface="Archivo Narrow"/>
              <a:buNone/>
              <a:defRPr sz="3700" b="0" i="0" u="none" strike="noStrike" cap="none">
                <a:solidFill>
                  <a:srgbClr val="000000"/>
                </a:solidFill>
                <a:latin typeface="Archivo Narrow"/>
                <a:ea typeface="Archivo Narrow"/>
                <a:cs typeface="Archivo Narrow"/>
                <a:sym typeface="Archivo Narrow"/>
              </a:defRPr>
            </a:lvl6pPr>
            <a:lvl7pPr marL="3200400" marR="0" lvl="6" indent="-381000" algn="ctr" rtl="0">
              <a:lnSpc>
                <a:spcPct val="100000"/>
              </a:lnSpc>
              <a:spcBef>
                <a:spcPts val="0"/>
              </a:spcBef>
              <a:spcAft>
                <a:spcPts val="0"/>
              </a:spcAft>
              <a:buClr>
                <a:srgbClr val="000000"/>
              </a:buClr>
              <a:buSzPts val="3700"/>
              <a:buFont typeface="Archivo Narrow"/>
              <a:buNone/>
              <a:defRPr sz="3700" b="0" i="0" u="none" strike="noStrike" cap="none">
                <a:solidFill>
                  <a:srgbClr val="000000"/>
                </a:solidFill>
                <a:latin typeface="Archivo Narrow"/>
                <a:ea typeface="Archivo Narrow"/>
                <a:cs typeface="Archivo Narrow"/>
                <a:sym typeface="Archivo Narrow"/>
              </a:defRPr>
            </a:lvl7pPr>
            <a:lvl8pPr marL="3657600" marR="0" lvl="7" indent="-381000" algn="ctr" rtl="0">
              <a:lnSpc>
                <a:spcPct val="100000"/>
              </a:lnSpc>
              <a:spcBef>
                <a:spcPts val="0"/>
              </a:spcBef>
              <a:spcAft>
                <a:spcPts val="0"/>
              </a:spcAft>
              <a:buClr>
                <a:srgbClr val="000000"/>
              </a:buClr>
              <a:buSzPts val="3700"/>
              <a:buFont typeface="Archivo Narrow"/>
              <a:buNone/>
              <a:defRPr sz="3700" b="0" i="0" u="none" strike="noStrike" cap="none">
                <a:solidFill>
                  <a:srgbClr val="000000"/>
                </a:solidFill>
                <a:latin typeface="Archivo Narrow"/>
                <a:ea typeface="Archivo Narrow"/>
                <a:cs typeface="Archivo Narrow"/>
                <a:sym typeface="Archivo Narrow"/>
              </a:defRPr>
            </a:lvl8pPr>
            <a:lvl9pPr marL="4114800" marR="0" lvl="8" indent="-381000" algn="ctr" rtl="0">
              <a:lnSpc>
                <a:spcPct val="100000"/>
              </a:lnSpc>
              <a:spcBef>
                <a:spcPts val="0"/>
              </a:spcBef>
              <a:spcAft>
                <a:spcPts val="0"/>
              </a:spcAft>
              <a:buClr>
                <a:srgbClr val="000000"/>
              </a:buClr>
              <a:buSzPts val="3700"/>
              <a:buFont typeface="Archivo Narrow"/>
              <a:buNone/>
              <a:defRPr sz="3700" b="0" i="0" u="none" strike="noStrike" cap="none">
                <a:solidFill>
                  <a:srgbClr val="000000"/>
                </a:solidFill>
                <a:latin typeface="Archivo Narrow"/>
                <a:ea typeface="Archivo Narrow"/>
                <a:cs typeface="Archivo Narrow"/>
                <a:sym typeface="Archivo Narrow"/>
              </a:defRPr>
            </a:lvl9pPr>
          </a:lstStyle>
          <a:p>
            <a:pPr marL="0" indent="0" algn="l"/>
            <a:r>
              <a:rPr lang="en-IN" sz="2400" b="1" dirty="0"/>
              <a:t>Guide Name: Ms. Benedict Tephila</a:t>
            </a:r>
          </a:p>
          <a:p>
            <a:pPr marL="0" indent="0" algn="l"/>
            <a:r>
              <a:rPr lang="en-IN" sz="2400" b="1" dirty="0"/>
              <a:t>Designation: Assistant Professor</a:t>
            </a:r>
          </a:p>
          <a:p>
            <a:pPr marL="0" indent="0" algn="l"/>
            <a:r>
              <a:rPr lang="en-IN" sz="2400" b="1" dirty="0"/>
              <a:t>Dept: Computer Science and Engineering</a:t>
            </a:r>
          </a:p>
        </p:txBody>
      </p:sp>
      <p:sp>
        <p:nvSpPr>
          <p:cNvPr id="3" name="Google Shape;81;p14">
            <a:extLst>
              <a:ext uri="{FF2B5EF4-FFF2-40B4-BE49-F238E27FC236}">
                <a16:creationId xmlns:a16="http://schemas.microsoft.com/office/drawing/2014/main" id="{1C5779A2-3916-AFF7-3200-D3103B282FA9}"/>
              </a:ext>
            </a:extLst>
          </p:cNvPr>
          <p:cNvSpPr txBox="1">
            <a:spLocks/>
          </p:cNvSpPr>
          <p:nvPr/>
        </p:nvSpPr>
        <p:spPr>
          <a:xfrm>
            <a:off x="925200" y="67275"/>
            <a:ext cx="6340162" cy="858752"/>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4800"/>
              <a:buFont typeface="IBM Plex Sans Condensed"/>
              <a:buNone/>
              <a:defRPr sz="4800" b="1" i="0" u="none" strike="noStrike" cap="none">
                <a:solidFill>
                  <a:srgbClr val="000000"/>
                </a:solidFill>
                <a:latin typeface="IBM Plex Sans Condensed"/>
                <a:ea typeface="IBM Plex Sans Condensed"/>
                <a:cs typeface="IBM Plex Sans Condensed"/>
                <a:sym typeface="IBM Plex Sans Condensed"/>
              </a:defRPr>
            </a:lvl1pPr>
            <a:lvl2pPr marR="0" lvl="1" algn="ctr" rtl="0">
              <a:lnSpc>
                <a:spcPct val="100000"/>
              </a:lnSpc>
              <a:spcBef>
                <a:spcPts val="0"/>
              </a:spcBef>
              <a:spcAft>
                <a:spcPts val="0"/>
              </a:spcAft>
              <a:buClr>
                <a:srgbClr val="000000"/>
              </a:buClr>
              <a:buSzPts val="4800"/>
              <a:buFont typeface="IBM Plex Sans Condensed"/>
              <a:buNone/>
              <a:defRPr sz="4800" b="1" i="0" u="none" strike="noStrike" cap="none">
                <a:solidFill>
                  <a:srgbClr val="000000"/>
                </a:solidFill>
                <a:latin typeface="IBM Plex Sans Condensed"/>
                <a:ea typeface="IBM Plex Sans Condensed"/>
                <a:cs typeface="IBM Plex Sans Condensed"/>
                <a:sym typeface="IBM Plex Sans Condensed"/>
              </a:defRPr>
            </a:lvl2pPr>
            <a:lvl3pPr marR="0" lvl="2" algn="ctr" rtl="0">
              <a:lnSpc>
                <a:spcPct val="100000"/>
              </a:lnSpc>
              <a:spcBef>
                <a:spcPts val="0"/>
              </a:spcBef>
              <a:spcAft>
                <a:spcPts val="0"/>
              </a:spcAft>
              <a:buClr>
                <a:srgbClr val="000000"/>
              </a:buClr>
              <a:buSzPts val="4800"/>
              <a:buFont typeface="IBM Plex Sans Condensed"/>
              <a:buNone/>
              <a:defRPr sz="4800" b="1" i="0" u="none" strike="noStrike" cap="none">
                <a:solidFill>
                  <a:srgbClr val="000000"/>
                </a:solidFill>
                <a:latin typeface="IBM Plex Sans Condensed"/>
                <a:ea typeface="IBM Plex Sans Condensed"/>
                <a:cs typeface="IBM Plex Sans Condensed"/>
                <a:sym typeface="IBM Plex Sans Condensed"/>
              </a:defRPr>
            </a:lvl3pPr>
            <a:lvl4pPr marR="0" lvl="3" algn="ctr" rtl="0">
              <a:lnSpc>
                <a:spcPct val="100000"/>
              </a:lnSpc>
              <a:spcBef>
                <a:spcPts val="0"/>
              </a:spcBef>
              <a:spcAft>
                <a:spcPts val="0"/>
              </a:spcAft>
              <a:buClr>
                <a:srgbClr val="000000"/>
              </a:buClr>
              <a:buSzPts val="4800"/>
              <a:buFont typeface="IBM Plex Sans Condensed"/>
              <a:buNone/>
              <a:defRPr sz="4800" b="1" i="0" u="none" strike="noStrike" cap="none">
                <a:solidFill>
                  <a:srgbClr val="000000"/>
                </a:solidFill>
                <a:latin typeface="IBM Plex Sans Condensed"/>
                <a:ea typeface="IBM Plex Sans Condensed"/>
                <a:cs typeface="IBM Plex Sans Condensed"/>
                <a:sym typeface="IBM Plex Sans Condensed"/>
              </a:defRPr>
            </a:lvl4pPr>
            <a:lvl5pPr marR="0" lvl="4" algn="ctr" rtl="0">
              <a:lnSpc>
                <a:spcPct val="100000"/>
              </a:lnSpc>
              <a:spcBef>
                <a:spcPts val="0"/>
              </a:spcBef>
              <a:spcAft>
                <a:spcPts val="0"/>
              </a:spcAft>
              <a:buClr>
                <a:srgbClr val="000000"/>
              </a:buClr>
              <a:buSzPts val="4800"/>
              <a:buFont typeface="IBM Plex Sans Condensed"/>
              <a:buNone/>
              <a:defRPr sz="4800" b="1" i="0" u="none" strike="noStrike" cap="none">
                <a:solidFill>
                  <a:srgbClr val="000000"/>
                </a:solidFill>
                <a:latin typeface="IBM Plex Sans Condensed"/>
                <a:ea typeface="IBM Plex Sans Condensed"/>
                <a:cs typeface="IBM Plex Sans Condensed"/>
                <a:sym typeface="IBM Plex Sans Condensed"/>
              </a:defRPr>
            </a:lvl5pPr>
            <a:lvl6pPr marR="0" lvl="5" algn="ctr" rtl="0">
              <a:lnSpc>
                <a:spcPct val="100000"/>
              </a:lnSpc>
              <a:spcBef>
                <a:spcPts val="0"/>
              </a:spcBef>
              <a:spcAft>
                <a:spcPts val="0"/>
              </a:spcAft>
              <a:buClr>
                <a:srgbClr val="000000"/>
              </a:buClr>
              <a:buSzPts val="4800"/>
              <a:buFont typeface="IBM Plex Sans Condensed"/>
              <a:buNone/>
              <a:defRPr sz="4800" b="1" i="0" u="none" strike="noStrike" cap="none">
                <a:solidFill>
                  <a:srgbClr val="000000"/>
                </a:solidFill>
                <a:latin typeface="IBM Plex Sans Condensed"/>
                <a:ea typeface="IBM Plex Sans Condensed"/>
                <a:cs typeface="IBM Plex Sans Condensed"/>
                <a:sym typeface="IBM Plex Sans Condensed"/>
              </a:defRPr>
            </a:lvl6pPr>
            <a:lvl7pPr marR="0" lvl="6" algn="ctr" rtl="0">
              <a:lnSpc>
                <a:spcPct val="100000"/>
              </a:lnSpc>
              <a:spcBef>
                <a:spcPts val="0"/>
              </a:spcBef>
              <a:spcAft>
                <a:spcPts val="0"/>
              </a:spcAft>
              <a:buClr>
                <a:srgbClr val="000000"/>
              </a:buClr>
              <a:buSzPts val="4800"/>
              <a:buFont typeface="IBM Plex Sans Condensed"/>
              <a:buNone/>
              <a:defRPr sz="4800" b="1" i="0" u="none" strike="noStrike" cap="none">
                <a:solidFill>
                  <a:srgbClr val="000000"/>
                </a:solidFill>
                <a:latin typeface="IBM Plex Sans Condensed"/>
                <a:ea typeface="IBM Plex Sans Condensed"/>
                <a:cs typeface="IBM Plex Sans Condensed"/>
                <a:sym typeface="IBM Plex Sans Condensed"/>
              </a:defRPr>
            </a:lvl7pPr>
            <a:lvl8pPr marR="0" lvl="7" algn="ctr" rtl="0">
              <a:lnSpc>
                <a:spcPct val="100000"/>
              </a:lnSpc>
              <a:spcBef>
                <a:spcPts val="0"/>
              </a:spcBef>
              <a:spcAft>
                <a:spcPts val="0"/>
              </a:spcAft>
              <a:buClr>
                <a:srgbClr val="000000"/>
              </a:buClr>
              <a:buSzPts val="4800"/>
              <a:buFont typeface="IBM Plex Sans Condensed"/>
              <a:buNone/>
              <a:defRPr sz="4800" b="1" i="0" u="none" strike="noStrike" cap="none">
                <a:solidFill>
                  <a:srgbClr val="000000"/>
                </a:solidFill>
                <a:latin typeface="IBM Plex Sans Condensed"/>
                <a:ea typeface="IBM Plex Sans Condensed"/>
                <a:cs typeface="IBM Plex Sans Condensed"/>
                <a:sym typeface="IBM Plex Sans Condensed"/>
              </a:defRPr>
            </a:lvl8pPr>
            <a:lvl9pPr marR="0" lvl="8" algn="ctr" rtl="0">
              <a:lnSpc>
                <a:spcPct val="100000"/>
              </a:lnSpc>
              <a:spcBef>
                <a:spcPts val="0"/>
              </a:spcBef>
              <a:spcAft>
                <a:spcPts val="0"/>
              </a:spcAft>
              <a:buClr>
                <a:srgbClr val="000000"/>
              </a:buClr>
              <a:buSzPts val="4800"/>
              <a:buFont typeface="IBM Plex Sans Condensed"/>
              <a:buNone/>
              <a:defRPr sz="4800" b="1" i="0" u="none" strike="noStrike" cap="none">
                <a:solidFill>
                  <a:srgbClr val="000000"/>
                </a:solidFill>
                <a:latin typeface="IBM Plex Sans Condensed"/>
                <a:ea typeface="IBM Plex Sans Condensed"/>
                <a:cs typeface="IBM Plex Sans Condensed"/>
                <a:sym typeface="IBM Plex Sans Condensed"/>
              </a:defRPr>
            </a:lvl9pPr>
          </a:lstStyle>
          <a:p>
            <a:r>
              <a:rPr lang="en-IN" sz="2000" b="0" dirty="0">
                <a:solidFill>
                  <a:schemeClr val="bg1"/>
                </a:solidFill>
              </a:rPr>
              <a:t>Honours in Cyber Security Project  - CSHO681CSP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00" y="250536"/>
            <a:ext cx="11360700" cy="763500"/>
          </a:xfrm>
        </p:spPr>
        <p:txBody>
          <a:bodyPr/>
          <a:lstStyle/>
          <a:p>
            <a:r>
              <a:rPr dirty="0">
                <a:latin typeface="Times New Roman"/>
              </a:rPr>
              <a:t>Abstract</a:t>
            </a:r>
          </a:p>
        </p:txBody>
      </p:sp>
      <p:sp>
        <p:nvSpPr>
          <p:cNvPr id="3" name="Text Placeholder 2"/>
          <p:cNvSpPr>
            <a:spLocks noGrp="1"/>
          </p:cNvSpPr>
          <p:nvPr>
            <p:ph type="body" idx="1"/>
          </p:nvPr>
        </p:nvSpPr>
        <p:spPr>
          <a:xfrm>
            <a:off x="415600" y="731232"/>
            <a:ext cx="11360700" cy="5509312"/>
          </a:xfrm>
        </p:spPr>
        <p:txBody>
          <a:bodyPr wrap="square"/>
          <a:lstStyle/>
          <a:p>
            <a:pPr marL="50800" indent="0" algn="l">
              <a:spcAft>
                <a:spcPts val="400"/>
              </a:spcAft>
              <a:buNone/>
            </a:pPr>
            <a:r>
              <a:rPr sz="1800" b="0" dirty="0">
                <a:latin typeface="Times New Roman"/>
              </a:rPr>
              <a:t>This project presents the design and implementation of a quantum-safe, privacy-preserving federated learning system. The primary goal is to enable multiple </a:t>
            </a:r>
            <a:r>
              <a:rPr sz="1800" b="0" dirty="0" err="1">
                <a:latin typeface="Times New Roman"/>
              </a:rPr>
              <a:t>organisations</a:t>
            </a:r>
            <a:r>
              <a:rPr sz="1800" b="0" dirty="0">
                <a:latin typeface="Times New Roman"/>
              </a:rPr>
              <a:t> such as hospitals, banks, and government agencies to collaboratively train machine learning models on their sensitive data without actually sharing that data with each other or with the central server.</a:t>
            </a:r>
          </a:p>
          <a:p>
            <a:pPr algn="l">
              <a:spcAft>
                <a:spcPts val="200"/>
              </a:spcAft>
            </a:pPr>
            <a:endParaRPr sz="1800" b="0" dirty="0">
              <a:latin typeface="Times New Roman"/>
            </a:endParaRPr>
          </a:p>
          <a:p>
            <a:pPr marL="50800" indent="0" algn="l">
              <a:spcAft>
                <a:spcPts val="400"/>
              </a:spcAft>
              <a:buNone/>
            </a:pPr>
            <a:r>
              <a:rPr sz="1800" b="1" dirty="0">
                <a:latin typeface="Times New Roman"/>
              </a:rPr>
              <a:t>The system integrates three complementary layers of security:</a:t>
            </a:r>
          </a:p>
          <a:p>
            <a:pPr marL="50800" indent="0" algn="l">
              <a:spcAft>
                <a:spcPts val="400"/>
              </a:spcAft>
              <a:buNone/>
            </a:pPr>
            <a:r>
              <a:rPr sz="1600" b="0" dirty="0">
                <a:latin typeface="Times New Roman"/>
              </a:rPr>
              <a:t>   •  Post-Quantum Cryptography (PQC): CRYSTALS-Kyber for key exchange and CRYSTALS-</a:t>
            </a:r>
            <a:r>
              <a:rPr sz="1600" b="0" dirty="0" err="1">
                <a:latin typeface="Times New Roman"/>
              </a:rPr>
              <a:t>Dilithium</a:t>
            </a:r>
            <a:r>
              <a:rPr sz="1600" b="0" dirty="0">
                <a:latin typeface="Times New Roman"/>
              </a:rPr>
              <a:t> for digital signatures, ensuring all communication remains secure even against future quantum computer attacks.</a:t>
            </a:r>
            <a:endParaRPr lang="en-GB" sz="1600" b="0" dirty="0">
              <a:latin typeface="Times New Roman"/>
            </a:endParaRPr>
          </a:p>
          <a:p>
            <a:pPr marL="50800" indent="0" algn="l">
              <a:spcAft>
                <a:spcPts val="400"/>
              </a:spcAft>
              <a:buNone/>
            </a:pPr>
            <a:r>
              <a:rPr sz="1600" b="0" dirty="0">
                <a:latin typeface="Times New Roman"/>
              </a:rPr>
              <a:t> •  Homomorphic Encryption (HE): </a:t>
            </a:r>
            <a:r>
              <a:rPr sz="1600" b="0" dirty="0" err="1">
                <a:latin typeface="Times New Roman"/>
              </a:rPr>
              <a:t>Paillier</a:t>
            </a:r>
            <a:r>
              <a:rPr sz="1600" b="0" dirty="0">
                <a:latin typeface="Times New Roman"/>
              </a:rPr>
              <a:t> encryption allows the server to aggregate model weight updates from all clients without ever decrypting or viewing individual client data.</a:t>
            </a:r>
          </a:p>
          <a:p>
            <a:pPr marL="50800" indent="0" algn="l">
              <a:spcAft>
                <a:spcPts val="400"/>
              </a:spcAft>
              <a:buNone/>
            </a:pPr>
            <a:r>
              <a:rPr sz="1600" b="0" dirty="0">
                <a:latin typeface="Times New Roman"/>
              </a:rPr>
              <a:t> •  Differential Privacy (DP): Gaussian noise is added to weight updates before encryption, providing a mathematical guarantee that no individual training record can be traced back.</a:t>
            </a:r>
          </a:p>
          <a:p>
            <a:pPr algn="l">
              <a:spcAft>
                <a:spcPts val="200"/>
              </a:spcAft>
            </a:pPr>
            <a:endParaRPr sz="1600" b="0" dirty="0">
              <a:latin typeface="Times New Roman"/>
            </a:endParaRPr>
          </a:p>
          <a:p>
            <a:pPr marL="50800" indent="0" algn="l">
              <a:spcAft>
                <a:spcPts val="400"/>
              </a:spcAft>
              <a:buNone/>
            </a:pPr>
            <a:r>
              <a:rPr sz="1800" b="0" dirty="0">
                <a:latin typeface="Times New Roman"/>
              </a:rPr>
              <a:t>The system was evaluated on the UCI Adult Income dataset with three federated clients over ten training rounds. It achieved 74.16% accuracy, which is only about 4 percentage points below a standard non-private </a:t>
            </a:r>
            <a:r>
              <a:rPr sz="1800" b="0" dirty="0" err="1">
                <a:latin typeface="Times New Roman"/>
              </a:rPr>
              <a:t>centralised</a:t>
            </a:r>
            <a:r>
              <a:rPr sz="1800" b="0" dirty="0">
                <a:latin typeface="Times New Roman"/>
              </a:rPr>
              <a:t> setup, demonstrating that strong multi-layer security can be achieved with acceptable accuracy trade-offs.</a:t>
            </a:r>
          </a:p>
          <a:p>
            <a:pPr algn="l">
              <a:spcAft>
                <a:spcPts val="200"/>
              </a:spcAft>
            </a:pPr>
            <a:endParaRPr sz="1800" b="0" dirty="0">
              <a:latin typeface="Times New Roman"/>
            </a:endParaRPr>
          </a:p>
          <a:p>
            <a:pPr marL="50800" indent="0" algn="l">
              <a:spcAft>
                <a:spcPts val="400"/>
              </a:spcAft>
              <a:buNone/>
            </a:pPr>
            <a:r>
              <a:rPr sz="1800" b="0" dirty="0">
                <a:latin typeface="Times New Roman"/>
              </a:rPr>
              <a:t>A Cyber-SOC (Security Operations Centre) Dashboard built with React 18 provides real-time visual monitoring of the entire pipeline and includes built-in simulations for Man-in-the-Middle and Quantum attacks.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a:rPr>
              <a:t>Introduction</a:t>
            </a:r>
          </a:p>
        </p:txBody>
      </p:sp>
      <p:sp>
        <p:nvSpPr>
          <p:cNvPr id="3" name="Text Placeholder 2"/>
          <p:cNvSpPr>
            <a:spLocks noGrp="1"/>
          </p:cNvSpPr>
          <p:nvPr>
            <p:ph type="body" idx="1"/>
          </p:nvPr>
        </p:nvSpPr>
        <p:spPr>
          <a:xfrm>
            <a:off x="415599" y="1023461"/>
            <a:ext cx="11622429" cy="5342771"/>
          </a:xfrm>
        </p:spPr>
        <p:txBody>
          <a:bodyPr wrap="square"/>
          <a:lstStyle/>
          <a:p>
            <a:pPr marL="50800" indent="0" algn="l">
              <a:spcAft>
                <a:spcPts val="400"/>
              </a:spcAft>
              <a:buNone/>
            </a:pPr>
            <a:r>
              <a:rPr sz="1800" b="1" dirty="0">
                <a:latin typeface="Times New Roman"/>
              </a:rPr>
              <a:t>Background:</a:t>
            </a:r>
          </a:p>
          <a:p>
            <a:pPr marL="50800" indent="0" algn="l">
              <a:spcAft>
                <a:spcPts val="400"/>
              </a:spcAft>
              <a:buNone/>
            </a:pPr>
            <a:r>
              <a:rPr sz="1600" b="0" dirty="0">
                <a:latin typeface="Times New Roman"/>
              </a:rPr>
              <a:t>Machine learning has found extensive application in domains like healthcare diagnostics, financial fraud detection, and cybersecurity threat analysis. However, the effectiveness of these models depends heavily on access to large, diverse datasets. In practice, privacy regulations such as India's Digital Personal Data Protection Act (DPDP, 2023) and the EU's GDPR make it illegal for </a:t>
            </a:r>
            <a:r>
              <a:rPr sz="1600" b="0" dirty="0" err="1">
                <a:latin typeface="Times New Roman"/>
              </a:rPr>
              <a:t>organisations</a:t>
            </a:r>
            <a:r>
              <a:rPr sz="1600" b="0" dirty="0">
                <a:latin typeface="Times New Roman"/>
              </a:rPr>
              <a:t> to freely share sensitive data.</a:t>
            </a:r>
          </a:p>
          <a:p>
            <a:pPr algn="l">
              <a:spcAft>
                <a:spcPts val="200"/>
              </a:spcAft>
            </a:pPr>
            <a:endParaRPr sz="1600" b="0" dirty="0">
              <a:latin typeface="Times New Roman"/>
            </a:endParaRPr>
          </a:p>
          <a:p>
            <a:pPr marL="50800" indent="0" algn="l">
              <a:spcAft>
                <a:spcPts val="400"/>
              </a:spcAft>
              <a:buNone/>
            </a:pPr>
            <a:r>
              <a:rPr sz="1600" b="0" dirty="0">
                <a:latin typeface="Times New Roman"/>
              </a:rPr>
              <a:t>Federated Learning (FL) was introduced by Google in 2017 as a solution. In FL, each participant trains the model locally on their own data and shares only the learned model weights with a central server. The server averages these weights to produce an improved global model. The raw data never leaves the local machine.</a:t>
            </a:r>
          </a:p>
          <a:p>
            <a:pPr algn="l">
              <a:spcAft>
                <a:spcPts val="200"/>
              </a:spcAft>
            </a:pPr>
            <a:endParaRPr sz="1600" b="0" dirty="0">
              <a:latin typeface="Times New Roman"/>
            </a:endParaRPr>
          </a:p>
          <a:p>
            <a:pPr marL="50800" indent="0" algn="l">
              <a:spcAft>
                <a:spcPts val="400"/>
              </a:spcAft>
              <a:buNone/>
            </a:pPr>
            <a:r>
              <a:rPr sz="1800" b="1" dirty="0">
                <a:latin typeface="Times New Roman"/>
              </a:rPr>
              <a:t>However, FL is not completely secure. Three key vulnerabilities remain:</a:t>
            </a:r>
          </a:p>
          <a:p>
            <a:pPr marL="50800" indent="0" algn="l">
              <a:spcAft>
                <a:spcPts val="400"/>
              </a:spcAft>
              <a:buNone/>
            </a:pPr>
            <a:r>
              <a:rPr sz="1600" b="0" dirty="0">
                <a:latin typeface="Times New Roman"/>
              </a:rPr>
              <a:t> •  Gradient Inversion Attacks: Zhu et al. (2019) showed that original training data can be reconstructed from shared weight updates with surprising accuracy.</a:t>
            </a:r>
          </a:p>
          <a:p>
            <a:pPr marL="50800" indent="0" algn="l">
              <a:spcAft>
                <a:spcPts val="400"/>
              </a:spcAft>
              <a:buNone/>
            </a:pPr>
            <a:r>
              <a:rPr sz="1600" b="0" dirty="0">
                <a:latin typeface="Times New Roman"/>
              </a:rPr>
              <a:t>  •  Quantum Threat: Current encryption standards (RSA, ECC) rely on mathematical problems that Shor's quantum algorithm can solve, meaning data encrypted today could be decrypted in the future.</a:t>
            </a:r>
          </a:p>
          <a:p>
            <a:pPr marL="50800" indent="0" algn="l">
              <a:spcAft>
                <a:spcPts val="400"/>
              </a:spcAft>
              <a:buNone/>
            </a:pPr>
            <a:r>
              <a:rPr sz="1600" b="0" dirty="0">
                <a:latin typeface="Times New Roman"/>
              </a:rPr>
              <a:t>  •  Curious Server Problem: Even with encrypted channels, the central server receives each client's individual weight updates and could potentially learn private information.</a:t>
            </a:r>
            <a:endParaRPr lang="en-GB" sz="1600" b="0" dirty="0">
              <a:latin typeface="Times New Roman"/>
            </a:endParaRPr>
          </a:p>
          <a:p>
            <a:pPr marL="50800" indent="0" algn="l">
              <a:spcAft>
                <a:spcPts val="400"/>
              </a:spcAft>
              <a:buNone/>
            </a:pPr>
            <a:endParaRPr sz="1600" b="0" dirty="0">
              <a:latin typeface="Times New Roman"/>
            </a:endParaRPr>
          </a:p>
          <a:p>
            <a:pPr marL="50800" indent="0" algn="l">
              <a:spcAft>
                <a:spcPts val="400"/>
              </a:spcAft>
              <a:buNone/>
            </a:pPr>
            <a:r>
              <a:rPr sz="1600" b="0" dirty="0">
                <a:latin typeface="Times New Roman"/>
              </a:rPr>
              <a:t>This project was designed to address all three of these vulnerabilities simultaneously through a layered security approach.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00" y="350365"/>
            <a:ext cx="11360700" cy="763500"/>
          </a:xfrm>
        </p:spPr>
        <p:txBody>
          <a:bodyPr/>
          <a:lstStyle/>
          <a:p>
            <a:r>
              <a:rPr dirty="0">
                <a:latin typeface="Times New Roman"/>
              </a:rPr>
              <a:t>Introduction (Contd.)</a:t>
            </a:r>
          </a:p>
        </p:txBody>
      </p:sp>
      <p:sp>
        <p:nvSpPr>
          <p:cNvPr id="3" name="Text Placeholder 2"/>
          <p:cNvSpPr>
            <a:spLocks noGrp="1"/>
          </p:cNvSpPr>
          <p:nvPr>
            <p:ph type="body" idx="1"/>
          </p:nvPr>
        </p:nvSpPr>
        <p:spPr>
          <a:xfrm>
            <a:off x="415600" y="957474"/>
            <a:ext cx="11360700" cy="5424472"/>
          </a:xfrm>
        </p:spPr>
        <p:txBody>
          <a:bodyPr wrap="square"/>
          <a:lstStyle/>
          <a:p>
            <a:pPr marL="50800" indent="0" algn="l">
              <a:spcAft>
                <a:spcPts val="400"/>
              </a:spcAft>
              <a:buNone/>
            </a:pPr>
            <a:r>
              <a:rPr sz="1800" b="1" dirty="0">
                <a:latin typeface="Times New Roman"/>
              </a:rPr>
              <a:t>Proposed Solution: Three Security Layers</a:t>
            </a:r>
          </a:p>
          <a:p>
            <a:pPr algn="l">
              <a:spcAft>
                <a:spcPts val="200"/>
              </a:spcAft>
            </a:pPr>
            <a:endParaRPr sz="1800" b="1" dirty="0">
              <a:latin typeface="Times New Roman"/>
            </a:endParaRPr>
          </a:p>
          <a:p>
            <a:pPr marL="50800" indent="0" algn="l">
              <a:spcAft>
                <a:spcPts val="400"/>
              </a:spcAft>
              <a:buNone/>
            </a:pPr>
            <a:r>
              <a:rPr sz="1800" b="1" dirty="0">
                <a:latin typeface="Times New Roman"/>
              </a:rPr>
              <a:t>Layer 1 – Network Security (Post-Quantum Cryptography):</a:t>
            </a:r>
          </a:p>
          <a:p>
            <a:pPr marL="50800" indent="0" algn="l">
              <a:spcAft>
                <a:spcPts val="400"/>
              </a:spcAft>
              <a:buNone/>
            </a:pPr>
            <a:r>
              <a:rPr sz="1600" b="0" dirty="0">
                <a:latin typeface="Times New Roman"/>
              </a:rPr>
              <a:t>All communication between clients and server is protected using CRYSTALS-Kyber (NIST FIPS 203) for key exchange and AES-256-GCM for data encryption. Each client also signs every message using CRYSTALS-</a:t>
            </a:r>
            <a:r>
              <a:rPr sz="1600" b="0" dirty="0" err="1">
                <a:latin typeface="Times New Roman"/>
              </a:rPr>
              <a:t>Dilithium</a:t>
            </a:r>
            <a:r>
              <a:rPr sz="1600" b="0" dirty="0">
                <a:latin typeface="Times New Roman"/>
              </a:rPr>
              <a:t> (NIST FIPS 204) digital signatures, allowing the server to verify the sender's identity and detect any tampering.</a:t>
            </a:r>
          </a:p>
          <a:p>
            <a:pPr algn="l">
              <a:spcAft>
                <a:spcPts val="200"/>
              </a:spcAft>
            </a:pPr>
            <a:endParaRPr sz="1600" b="0" dirty="0">
              <a:latin typeface="Times New Roman"/>
            </a:endParaRPr>
          </a:p>
          <a:p>
            <a:pPr marL="50800" indent="0" algn="l">
              <a:spcAft>
                <a:spcPts val="400"/>
              </a:spcAft>
              <a:buNone/>
            </a:pPr>
            <a:r>
              <a:rPr sz="1800" b="1" dirty="0">
                <a:latin typeface="Times New Roman"/>
              </a:rPr>
              <a:t>Layer 2 – Encrypted Aggregation (Homomorphic Encryption):</a:t>
            </a:r>
          </a:p>
          <a:p>
            <a:pPr marL="50800" indent="0" algn="l">
              <a:spcAft>
                <a:spcPts val="400"/>
              </a:spcAft>
              <a:buNone/>
            </a:pPr>
            <a:r>
              <a:rPr sz="1600" b="0" dirty="0">
                <a:latin typeface="Times New Roman"/>
              </a:rPr>
              <a:t>Before sending weight updates, each client encrypts them using </a:t>
            </a:r>
            <a:r>
              <a:rPr sz="1600" b="0" dirty="0" err="1">
                <a:latin typeface="Times New Roman"/>
              </a:rPr>
              <a:t>Paillier</a:t>
            </a:r>
            <a:r>
              <a:rPr sz="1600" b="0" dirty="0">
                <a:latin typeface="Times New Roman"/>
              </a:rPr>
              <a:t> homomorphic encryption with 2048-bit keys. The special property of </a:t>
            </a:r>
            <a:r>
              <a:rPr sz="1600" b="0" dirty="0" err="1">
                <a:latin typeface="Times New Roman"/>
              </a:rPr>
              <a:t>Paillier</a:t>
            </a:r>
            <a:r>
              <a:rPr sz="1600" b="0" dirty="0">
                <a:latin typeface="Times New Roman"/>
              </a:rPr>
              <a:t> is that multiplying two ciphertexts produces a value that decrypts to the sum of the two plaintexts. This means the server can aggregate all encrypted weights without ever seeing any individual client's data.</a:t>
            </a:r>
          </a:p>
          <a:p>
            <a:pPr algn="l">
              <a:spcAft>
                <a:spcPts val="200"/>
              </a:spcAft>
            </a:pPr>
            <a:endParaRPr sz="1600" b="0" dirty="0">
              <a:latin typeface="Times New Roman"/>
            </a:endParaRPr>
          </a:p>
          <a:p>
            <a:pPr marL="50800" indent="0" algn="l">
              <a:spcAft>
                <a:spcPts val="400"/>
              </a:spcAft>
              <a:buNone/>
            </a:pPr>
            <a:r>
              <a:rPr sz="1800" b="1" dirty="0">
                <a:latin typeface="Times New Roman"/>
              </a:rPr>
              <a:t>Layer 3 – Statistical Privacy (Differential Privacy):</a:t>
            </a:r>
          </a:p>
          <a:p>
            <a:pPr marL="50800" indent="0" algn="l">
              <a:spcAft>
                <a:spcPts val="400"/>
              </a:spcAft>
              <a:buNone/>
            </a:pPr>
            <a:r>
              <a:rPr sz="1600" b="0" dirty="0">
                <a:latin typeface="Times New Roman"/>
              </a:rPr>
              <a:t>Before encryption, each client adds controlled Gaussian noise to its weight updates. The epsilon parameter controls the noise level: lower epsilon means more noise and stronger privacy. Weight updates are also clipped to limit the influence of any single data point. This provides a mathematical guarantee that individual records cannot be traced back.</a:t>
            </a:r>
          </a:p>
          <a:p>
            <a:pPr algn="l">
              <a:spcAft>
                <a:spcPts val="200"/>
              </a:spcAft>
            </a:pPr>
            <a:endParaRPr sz="1600" b="0" dirty="0">
              <a:latin typeface="Times New Roman"/>
            </a:endParaRPr>
          </a:p>
          <a:p>
            <a:pPr marL="50800" indent="0" algn="l">
              <a:spcAft>
                <a:spcPts val="400"/>
              </a:spcAft>
              <a:buNone/>
            </a:pPr>
            <a:r>
              <a:rPr sz="1600" b="0" dirty="0">
                <a:latin typeface="Times New Roman"/>
              </a:rPr>
              <a:t>The order of application matters: DP noise is added first (closest to raw data), then HE encryption wraps the noisy weights, and finally PQC encrypts the entire package for transit.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Times New Roman"/>
              </a:rPr>
              <a:t>Literature Review</a:t>
            </a:r>
          </a:p>
        </p:txBody>
      </p:sp>
      <p:sp>
        <p:nvSpPr>
          <p:cNvPr id="3" name="Text Placeholder 2"/>
          <p:cNvSpPr>
            <a:spLocks noGrp="1"/>
          </p:cNvSpPr>
          <p:nvPr>
            <p:ph type="body" idx="1"/>
          </p:nvPr>
        </p:nvSpPr>
        <p:spPr>
          <a:xfrm>
            <a:off x="415600" y="1164863"/>
            <a:ext cx="11360700" cy="5201369"/>
          </a:xfrm>
        </p:spPr>
        <p:txBody>
          <a:bodyPr wrap="square"/>
          <a:lstStyle/>
          <a:p>
            <a:pPr marL="50800" indent="0" algn="l">
              <a:spcAft>
                <a:spcPts val="400"/>
              </a:spcAft>
              <a:buNone/>
            </a:pPr>
            <a:r>
              <a:rPr sz="1600" b="1" dirty="0">
                <a:latin typeface="Times New Roman"/>
              </a:rPr>
              <a:t>McMahan et al. (2017) – "Communication-Efficient Learning of Deep Networks"</a:t>
            </a:r>
          </a:p>
          <a:p>
            <a:pPr marL="50800" indent="0" algn="l">
              <a:spcAft>
                <a:spcPts val="400"/>
              </a:spcAft>
              <a:buNone/>
            </a:pPr>
            <a:r>
              <a:rPr sz="1600" b="0" dirty="0">
                <a:latin typeface="Times New Roman"/>
              </a:rPr>
              <a:t>Introduced the Federated Averaging (</a:t>
            </a:r>
            <a:r>
              <a:rPr sz="1600" b="0" dirty="0" err="1">
                <a:latin typeface="Times New Roman"/>
              </a:rPr>
              <a:t>FedAvg</a:t>
            </a:r>
            <a:r>
              <a:rPr sz="1600" b="0" dirty="0">
                <a:latin typeface="Times New Roman"/>
              </a:rPr>
              <a:t>) algorithm. Showed deep networks can be trained across </a:t>
            </a:r>
            <a:r>
              <a:rPr sz="1600" b="0" dirty="0" err="1">
                <a:latin typeface="Times New Roman"/>
              </a:rPr>
              <a:t>decentralised</a:t>
            </a:r>
            <a:r>
              <a:rPr sz="1600" b="0" dirty="0">
                <a:latin typeface="Times New Roman"/>
              </a:rPr>
              <a:t> data. However, no encryption or privacy mechanisms were included. The server received raw weight updates.</a:t>
            </a:r>
          </a:p>
          <a:p>
            <a:pPr algn="l">
              <a:spcAft>
                <a:spcPts val="200"/>
              </a:spcAft>
            </a:pPr>
            <a:endParaRPr sz="1600" b="0" dirty="0">
              <a:latin typeface="Times New Roman"/>
            </a:endParaRPr>
          </a:p>
          <a:p>
            <a:pPr marL="50800" indent="0" algn="l">
              <a:spcAft>
                <a:spcPts val="400"/>
              </a:spcAft>
              <a:buNone/>
            </a:pPr>
            <a:r>
              <a:rPr sz="1600" b="1" dirty="0">
                <a:latin typeface="Times New Roman"/>
              </a:rPr>
              <a:t>Bonawitz et al. (2017) – "Practical Secure Aggregation"</a:t>
            </a:r>
          </a:p>
          <a:p>
            <a:pPr marL="50800" indent="0" algn="l">
              <a:spcAft>
                <a:spcPts val="400"/>
              </a:spcAft>
              <a:buNone/>
            </a:pPr>
            <a:r>
              <a:rPr sz="1600" b="0" dirty="0">
                <a:latin typeface="Times New Roman"/>
              </a:rPr>
              <a:t>Added secure aggregation using secret sharing so the server can only see aggregate updates. Requires multiple communication rounds. Does not use homomorphic encryption and has no quantum-safe element.</a:t>
            </a:r>
          </a:p>
          <a:p>
            <a:pPr algn="l">
              <a:spcAft>
                <a:spcPts val="200"/>
              </a:spcAft>
            </a:pPr>
            <a:endParaRPr sz="1600" b="0" dirty="0">
              <a:latin typeface="Times New Roman"/>
            </a:endParaRPr>
          </a:p>
          <a:p>
            <a:pPr marL="50800" indent="0" algn="l">
              <a:spcAft>
                <a:spcPts val="400"/>
              </a:spcAft>
              <a:buNone/>
            </a:pPr>
            <a:r>
              <a:rPr sz="1600" b="1" dirty="0">
                <a:latin typeface="Times New Roman"/>
              </a:rPr>
              <a:t>Abadi et al. (2016) – "Deep Learning with Differential Privacy"</a:t>
            </a:r>
          </a:p>
          <a:p>
            <a:pPr marL="50800" indent="0" algn="l">
              <a:spcAft>
                <a:spcPts val="400"/>
              </a:spcAft>
              <a:buNone/>
            </a:pPr>
            <a:r>
              <a:rPr lang="en-US" sz="1600" b="0" dirty="0">
                <a:latin typeface="Times New Roman"/>
              </a:rPr>
              <a:t>I</a:t>
            </a:r>
            <a:r>
              <a:rPr sz="1600" b="0" dirty="0">
                <a:latin typeface="Times New Roman"/>
              </a:rPr>
              <a:t>ntroduced DP-SGD where gradients are clipped and Gaussian noise is added. Focused on </a:t>
            </a:r>
            <a:r>
              <a:rPr sz="1600" b="0" dirty="0" err="1">
                <a:latin typeface="Times New Roman"/>
              </a:rPr>
              <a:t>centralised</a:t>
            </a:r>
            <a:r>
              <a:rPr sz="1600" b="0" dirty="0">
                <a:latin typeface="Times New Roman"/>
              </a:rPr>
              <a:t> training, not federated. The gradient clipping and noise addition ideas were adapted for this project.</a:t>
            </a:r>
          </a:p>
          <a:p>
            <a:pPr algn="l">
              <a:spcAft>
                <a:spcPts val="200"/>
              </a:spcAft>
            </a:pPr>
            <a:endParaRPr sz="1600" b="0" dirty="0">
              <a:latin typeface="Times New Roman"/>
            </a:endParaRPr>
          </a:p>
          <a:p>
            <a:pPr marL="50800" indent="0" algn="l">
              <a:spcAft>
                <a:spcPts val="400"/>
              </a:spcAft>
              <a:buNone/>
            </a:pPr>
            <a:r>
              <a:rPr sz="1600" b="1" dirty="0">
                <a:latin typeface="Times New Roman"/>
              </a:rPr>
              <a:t>Li et al. (2020) – "Federated Learning: Challenges and Future Directions"</a:t>
            </a:r>
          </a:p>
          <a:p>
            <a:pPr marL="50800" indent="0" algn="l">
              <a:spcAft>
                <a:spcPts val="400"/>
              </a:spcAft>
              <a:buNone/>
            </a:pPr>
            <a:r>
              <a:rPr sz="1600" b="0" dirty="0">
                <a:latin typeface="Times New Roman"/>
              </a:rPr>
              <a:t>Comprehensive FL survey. Key finding: most FL systems at the time were still using standard TLS for communication, which is not quantum-safe.</a:t>
            </a:r>
          </a:p>
          <a:p>
            <a:pPr algn="l">
              <a:spcAft>
                <a:spcPts val="200"/>
              </a:spcAft>
            </a:pPr>
            <a:endParaRPr sz="1600" b="0" dirty="0">
              <a:latin typeface="Times New Roman"/>
            </a:endParaRPr>
          </a:p>
          <a:p>
            <a:pPr marL="50800" indent="0" algn="l">
              <a:spcAft>
                <a:spcPts val="400"/>
              </a:spcAft>
              <a:buNone/>
            </a:pPr>
            <a:r>
              <a:rPr sz="1600" b="1" dirty="0">
                <a:latin typeface="Times New Roman"/>
              </a:rPr>
              <a:t>Shor (1997) – Polynomial-time algorithm for integer </a:t>
            </a:r>
            <a:r>
              <a:rPr sz="1600" b="1" dirty="0" err="1">
                <a:latin typeface="Times New Roman"/>
              </a:rPr>
              <a:t>factorisation</a:t>
            </a:r>
            <a:r>
              <a:rPr sz="1600" b="1" dirty="0">
                <a:latin typeface="Times New Roman"/>
              </a:rPr>
              <a:t>. Core motivation for PQC.</a:t>
            </a:r>
          </a:p>
          <a:p>
            <a:pPr marL="50800" indent="0" algn="l">
              <a:spcAft>
                <a:spcPts val="400"/>
              </a:spcAft>
              <a:buNone/>
            </a:pPr>
            <a:r>
              <a:rPr sz="1600" b="1" dirty="0">
                <a:latin typeface="Times New Roman"/>
              </a:rPr>
              <a:t>Zhu et al. (2019) – "Deep Leakage from Gradients". Demonstrated gradient inversion attack</a:t>
            </a:r>
            <a:r>
              <a:rPr sz="1200" b="1" dirty="0">
                <a:latin typeface="Times New Roman"/>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a:rPr>
              <a:t>Gap Identification &amp; Problem Statement</a:t>
            </a:r>
          </a:p>
        </p:txBody>
      </p:sp>
      <p:sp>
        <p:nvSpPr>
          <p:cNvPr id="3" name="Text Placeholder 2"/>
          <p:cNvSpPr>
            <a:spLocks noGrp="1"/>
          </p:cNvSpPr>
          <p:nvPr>
            <p:ph type="body" idx="1"/>
          </p:nvPr>
        </p:nvSpPr>
        <p:spPr>
          <a:xfrm>
            <a:off x="415600" y="1255267"/>
            <a:ext cx="11360700" cy="5110966"/>
          </a:xfrm>
        </p:spPr>
        <p:txBody>
          <a:bodyPr wrap="square"/>
          <a:lstStyle/>
          <a:p>
            <a:pPr marL="50800" indent="0" algn="l">
              <a:spcAft>
                <a:spcPts val="400"/>
              </a:spcAft>
              <a:buNone/>
            </a:pPr>
            <a:r>
              <a:rPr sz="2000" b="1" dirty="0">
                <a:latin typeface="Times New Roman"/>
              </a:rPr>
              <a:t>Identified Gap:</a:t>
            </a:r>
          </a:p>
          <a:p>
            <a:pPr marL="50800" indent="0" algn="l">
              <a:spcAft>
                <a:spcPts val="400"/>
              </a:spcAft>
              <a:buNone/>
            </a:pPr>
            <a:r>
              <a:rPr sz="1800" b="0" dirty="0">
                <a:latin typeface="Times New Roman"/>
              </a:rPr>
              <a:t>After reviewing the existing literature, it was observed that while FL, PQC, HE, and DP have each been studied individually (and sometimes in pairs), no prior work</a:t>
            </a:r>
            <a:r>
              <a:rPr lang="en-US" sz="1800" b="0" dirty="0">
                <a:latin typeface="Times New Roman"/>
              </a:rPr>
              <a:t> </a:t>
            </a:r>
            <a:r>
              <a:rPr sz="1800" b="0" dirty="0">
                <a:latin typeface="Times New Roman"/>
              </a:rPr>
              <a:t>combines all four into a single working system.</a:t>
            </a:r>
          </a:p>
          <a:p>
            <a:pPr marL="50800" indent="0" algn="l">
              <a:spcAft>
                <a:spcPts val="400"/>
              </a:spcAft>
              <a:buNone/>
            </a:pPr>
            <a:r>
              <a:rPr sz="1800" b="0" dirty="0">
                <a:latin typeface="Times New Roman"/>
              </a:rPr>
              <a:t> •  McMahan (2017): FL only, no security</a:t>
            </a:r>
            <a:endParaRPr lang="en-GB" sz="1800" b="0" dirty="0">
              <a:latin typeface="Times New Roman"/>
            </a:endParaRPr>
          </a:p>
          <a:p>
            <a:pPr marL="50800" indent="0" algn="l">
              <a:spcAft>
                <a:spcPts val="400"/>
              </a:spcAft>
              <a:buNone/>
            </a:pPr>
            <a:r>
              <a:rPr lang="en-GB" sz="1800" b="0" dirty="0">
                <a:latin typeface="Times New Roman"/>
              </a:rPr>
              <a:t> •  Bonawitz (2017): FL + Secure Aggregation, no HE or PQC</a:t>
            </a:r>
          </a:p>
          <a:p>
            <a:pPr marL="50800" indent="0" algn="l">
              <a:spcAft>
                <a:spcPts val="400"/>
              </a:spcAft>
              <a:buNone/>
            </a:pPr>
            <a:r>
              <a:rPr sz="1800" b="0" dirty="0">
                <a:latin typeface="Times New Roman"/>
              </a:rPr>
              <a:t> •  Abadi (2016): FL + DP only, </a:t>
            </a:r>
            <a:r>
              <a:rPr sz="1800" b="0" dirty="0" err="1">
                <a:latin typeface="Times New Roman"/>
              </a:rPr>
              <a:t>centralised</a:t>
            </a:r>
            <a:r>
              <a:rPr sz="1800" b="0" dirty="0">
                <a:latin typeface="Times New Roman"/>
              </a:rPr>
              <a:t> approach</a:t>
            </a:r>
          </a:p>
          <a:p>
            <a:pPr marL="50800" indent="0" algn="l">
              <a:spcAft>
                <a:spcPts val="400"/>
              </a:spcAft>
              <a:buNone/>
            </a:pPr>
            <a:r>
              <a:rPr sz="1800" b="0" dirty="0">
                <a:latin typeface="Times New Roman"/>
              </a:rPr>
              <a:t> •  Li (2020): FL survey, standard TLS only</a:t>
            </a:r>
          </a:p>
          <a:p>
            <a:pPr marL="50800" indent="0" algn="l">
              <a:spcAft>
                <a:spcPts val="400"/>
              </a:spcAft>
              <a:buNone/>
            </a:pPr>
            <a:r>
              <a:rPr sz="1800" b="0" dirty="0">
                <a:latin typeface="Times New Roman"/>
              </a:rPr>
              <a:t> •  This Project: FL + PQC + HE + DP (all four combined)</a:t>
            </a:r>
          </a:p>
          <a:p>
            <a:pPr algn="l">
              <a:spcAft>
                <a:spcPts val="200"/>
              </a:spcAft>
            </a:pPr>
            <a:endParaRPr sz="1800" b="0" dirty="0">
              <a:latin typeface="Times New Roman"/>
            </a:endParaRPr>
          </a:p>
          <a:p>
            <a:pPr marL="50800" indent="0" algn="l">
              <a:spcAft>
                <a:spcPts val="400"/>
              </a:spcAft>
              <a:buNone/>
            </a:pPr>
            <a:r>
              <a:rPr sz="2000" b="1" dirty="0">
                <a:latin typeface="Times New Roman"/>
              </a:rPr>
              <a:t>Problem Statement:</a:t>
            </a:r>
          </a:p>
          <a:p>
            <a:pPr marL="50800" indent="0" algn="l">
              <a:spcAft>
                <a:spcPts val="400"/>
              </a:spcAft>
              <a:buNone/>
            </a:pPr>
            <a:r>
              <a:rPr sz="1800" b="0" dirty="0">
                <a:latin typeface="Times New Roman"/>
              </a:rPr>
              <a:t>Federated learning in its current form is still exposed to multiple attack vectors. Weight updates can be intercepted and reversed to extract training data. Communication channels use encryption that will not survive quantum computers. Even with encrypted channels, an honest-but-curious server can learn from individual weight updates.</a:t>
            </a:r>
          </a:p>
          <a:p>
            <a:pPr algn="l">
              <a:spcAft>
                <a:spcPts val="200"/>
              </a:spcAft>
            </a:pPr>
            <a:endParaRPr sz="1800" b="0" dirty="0">
              <a:latin typeface="Times New Roman"/>
            </a:endParaRPr>
          </a:p>
          <a:p>
            <a:pPr marL="50800" indent="0" algn="l">
              <a:spcAft>
                <a:spcPts val="400"/>
              </a:spcAft>
              <a:buNone/>
            </a:pPr>
            <a:r>
              <a:rPr sz="1800" b="0" dirty="0">
                <a:latin typeface="Times New Roman"/>
              </a:rPr>
              <a:t>There is a need for a unified system that handles security at the network layer (PQC), computation layer (HE), and statistical layer (DP) simultaneously, while still producing a useful trained model.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a:rPr>
              <a:t>Objectives</a:t>
            </a:r>
          </a:p>
        </p:txBody>
      </p:sp>
      <p:sp>
        <p:nvSpPr>
          <p:cNvPr id="3" name="Text Placeholder 2"/>
          <p:cNvSpPr>
            <a:spLocks noGrp="1"/>
          </p:cNvSpPr>
          <p:nvPr>
            <p:ph type="body" idx="1"/>
          </p:nvPr>
        </p:nvSpPr>
        <p:spPr>
          <a:xfrm>
            <a:off x="415600" y="1092900"/>
            <a:ext cx="11360700" cy="4672200"/>
          </a:xfrm>
        </p:spPr>
        <p:txBody>
          <a:bodyPr wrap="square"/>
          <a:lstStyle/>
          <a:p>
            <a:pPr marL="50800" indent="0" algn="l">
              <a:spcAft>
                <a:spcPts val="400"/>
              </a:spcAft>
              <a:buNone/>
            </a:pPr>
            <a:r>
              <a:rPr sz="1800" b="1" dirty="0">
                <a:latin typeface="Times New Roman"/>
              </a:rPr>
              <a:t>The main objectives of this project are:</a:t>
            </a:r>
          </a:p>
          <a:p>
            <a:pPr algn="l">
              <a:spcAft>
                <a:spcPts val="200"/>
              </a:spcAft>
            </a:pPr>
            <a:endParaRPr sz="1800" b="0" dirty="0">
              <a:latin typeface="Times New Roman"/>
            </a:endParaRPr>
          </a:p>
          <a:p>
            <a:pPr marL="50800" indent="0" algn="l">
              <a:spcAft>
                <a:spcPts val="400"/>
              </a:spcAft>
              <a:buNone/>
            </a:pPr>
            <a:r>
              <a:rPr sz="1600" b="0" dirty="0">
                <a:latin typeface="Times New Roman"/>
              </a:rPr>
              <a:t>    1.  To build a federated learning system that combines Post-Quantum Cryptography (Kyber and </a:t>
            </a:r>
            <a:r>
              <a:rPr sz="1600" b="0" dirty="0" err="1">
                <a:latin typeface="Times New Roman"/>
              </a:rPr>
              <a:t>Dilithium</a:t>
            </a:r>
            <a:r>
              <a:rPr sz="1600" b="0" dirty="0">
                <a:latin typeface="Times New Roman"/>
              </a:rPr>
              <a:t>), Homomorphic Encryption (</a:t>
            </a:r>
            <a:r>
              <a:rPr sz="1600" b="0" dirty="0" err="1">
                <a:latin typeface="Times New Roman"/>
              </a:rPr>
              <a:t>Paillier</a:t>
            </a:r>
            <a:r>
              <a:rPr sz="1600" b="0" dirty="0">
                <a:latin typeface="Times New Roman"/>
              </a:rPr>
              <a:t>), and Differential Privacy into one layered security setup.</a:t>
            </a:r>
          </a:p>
          <a:p>
            <a:pPr algn="l">
              <a:spcAft>
                <a:spcPts val="200"/>
              </a:spcAft>
            </a:pPr>
            <a:endParaRPr sz="1600" b="0" dirty="0">
              <a:latin typeface="Times New Roman"/>
            </a:endParaRPr>
          </a:p>
          <a:p>
            <a:pPr marL="50800" indent="0" algn="l">
              <a:spcAft>
                <a:spcPts val="400"/>
              </a:spcAft>
              <a:buNone/>
            </a:pPr>
            <a:r>
              <a:rPr sz="1600" b="0" dirty="0">
                <a:latin typeface="Times New Roman"/>
              </a:rPr>
              <a:t>    2.  To set up a secure, quantum-safe communication channel using Kyber-768 key exchange with AES-256-GCM encryption so that all data transmitted between clients and server is protected.</a:t>
            </a:r>
          </a:p>
          <a:p>
            <a:pPr algn="l">
              <a:spcAft>
                <a:spcPts val="200"/>
              </a:spcAft>
            </a:pPr>
            <a:endParaRPr sz="1600" b="0" dirty="0">
              <a:latin typeface="Times New Roman"/>
            </a:endParaRPr>
          </a:p>
          <a:p>
            <a:pPr marL="50800" indent="0" algn="l">
              <a:spcAft>
                <a:spcPts val="400"/>
              </a:spcAft>
              <a:buNone/>
            </a:pPr>
            <a:r>
              <a:rPr sz="1600" b="0" dirty="0">
                <a:latin typeface="Times New Roman"/>
              </a:rPr>
              <a:t>    3.  To use Dilithium-44 digital signatures for verifying the identity of each client and detecting any tampering with the model updates.</a:t>
            </a:r>
          </a:p>
          <a:p>
            <a:pPr algn="l">
              <a:spcAft>
                <a:spcPts val="200"/>
              </a:spcAft>
            </a:pPr>
            <a:endParaRPr sz="1600" b="0" dirty="0">
              <a:latin typeface="Times New Roman"/>
            </a:endParaRPr>
          </a:p>
          <a:p>
            <a:pPr marL="50800" indent="0" algn="l">
              <a:spcAft>
                <a:spcPts val="400"/>
              </a:spcAft>
              <a:buNone/>
            </a:pPr>
            <a:r>
              <a:rPr sz="1600" b="0" dirty="0">
                <a:latin typeface="Times New Roman"/>
              </a:rPr>
              <a:t>    4.  To allow the server to combine (aggregate) model updates from all clients without ever seeing any individual client's data, using </a:t>
            </a:r>
            <a:r>
              <a:rPr sz="1600" b="0" dirty="0" err="1">
                <a:latin typeface="Times New Roman"/>
              </a:rPr>
              <a:t>Paillier</a:t>
            </a:r>
            <a:r>
              <a:rPr sz="1600" b="0" dirty="0">
                <a:latin typeface="Times New Roman"/>
              </a:rPr>
              <a:t> homomorphic encryption.</a:t>
            </a:r>
          </a:p>
          <a:p>
            <a:pPr algn="l">
              <a:spcAft>
                <a:spcPts val="200"/>
              </a:spcAft>
            </a:pPr>
            <a:endParaRPr sz="1600" b="0" dirty="0">
              <a:latin typeface="Times New Roman"/>
            </a:endParaRPr>
          </a:p>
          <a:p>
            <a:pPr marL="50800" indent="0" algn="l">
              <a:spcAft>
                <a:spcPts val="400"/>
              </a:spcAft>
              <a:buNone/>
            </a:pPr>
            <a:r>
              <a:rPr sz="1600" b="0" dirty="0">
                <a:latin typeface="Times New Roman"/>
              </a:rPr>
              <a:t>    5.  To add Gaussian noise to model updates through differential privacy so that individual records in the training data cannot be traced back.</a:t>
            </a:r>
          </a:p>
          <a:p>
            <a:pPr algn="l">
              <a:spcAft>
                <a:spcPts val="200"/>
              </a:spcAft>
            </a:pPr>
            <a:endParaRPr sz="1600" b="0" dirty="0">
              <a:latin typeface="Times New Roman"/>
            </a:endParaRPr>
          </a:p>
          <a:p>
            <a:pPr marL="50800" indent="0" algn="l">
              <a:spcAft>
                <a:spcPts val="400"/>
              </a:spcAft>
              <a:buNone/>
            </a:pPr>
            <a:r>
              <a:rPr sz="1600" b="0" dirty="0">
                <a:latin typeface="Times New Roman"/>
              </a:rPr>
              <a:t>    6.  To create a real-time Cyber-SOC Dashboard that shows the federated learning process, client statuses, encryption flow, and threat simulation results visually.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00" y="241108"/>
            <a:ext cx="11360700" cy="763500"/>
          </a:xfrm>
        </p:spPr>
        <p:txBody>
          <a:bodyPr/>
          <a:lstStyle/>
          <a:p>
            <a:r>
              <a:rPr dirty="0">
                <a:latin typeface="Times New Roman"/>
              </a:rPr>
              <a:t>Methodology – Dataset &amp; Configuration</a:t>
            </a:r>
          </a:p>
        </p:txBody>
      </p:sp>
      <p:sp>
        <p:nvSpPr>
          <p:cNvPr id="3" name="Text Placeholder 2"/>
          <p:cNvSpPr>
            <a:spLocks noGrp="1"/>
          </p:cNvSpPr>
          <p:nvPr>
            <p:ph type="body" idx="1"/>
          </p:nvPr>
        </p:nvSpPr>
        <p:spPr>
          <a:xfrm>
            <a:off x="415600" y="1004608"/>
            <a:ext cx="11360700" cy="4672200"/>
          </a:xfrm>
        </p:spPr>
        <p:txBody>
          <a:bodyPr wrap="square"/>
          <a:lstStyle/>
          <a:p>
            <a:pPr marL="50800" indent="0" algn="l">
              <a:spcAft>
                <a:spcPts val="400"/>
              </a:spcAft>
              <a:buNone/>
            </a:pPr>
            <a:r>
              <a:rPr sz="2000" b="1" dirty="0">
                <a:latin typeface="Times New Roman"/>
              </a:rPr>
              <a:t>Dataset: UCI Adult Income (</a:t>
            </a:r>
            <a:r>
              <a:rPr sz="2000" b="1" dirty="0" err="1">
                <a:latin typeface="Times New Roman"/>
              </a:rPr>
              <a:t>OpenML</a:t>
            </a:r>
            <a:r>
              <a:rPr sz="2000" b="1" dirty="0">
                <a:latin typeface="Times New Roman"/>
              </a:rPr>
              <a:t>, Task ID 7592)</a:t>
            </a:r>
          </a:p>
          <a:p>
            <a:pPr marL="50800" indent="0" algn="l">
              <a:spcAft>
                <a:spcPts val="400"/>
              </a:spcAft>
              <a:buNone/>
            </a:pPr>
            <a:r>
              <a:rPr sz="1800" b="0" dirty="0">
                <a:latin typeface="Times New Roman"/>
              </a:rPr>
              <a:t>    •  Total Records: ~36,177 (after dropping rows with missing values)</a:t>
            </a:r>
            <a:endParaRPr lang="en-GB" sz="1800" b="0" dirty="0">
              <a:latin typeface="Times New Roman"/>
            </a:endParaRPr>
          </a:p>
          <a:p>
            <a:pPr marL="50800" indent="0" algn="l">
              <a:spcAft>
                <a:spcPts val="400"/>
              </a:spcAft>
              <a:buNone/>
            </a:pPr>
            <a:r>
              <a:rPr lang="en-US" sz="1800" dirty="0">
                <a:latin typeface="Times New Roman"/>
              </a:rPr>
              <a:t>    </a:t>
            </a:r>
            <a:r>
              <a:rPr sz="1800" b="0" dirty="0">
                <a:latin typeface="Times New Roman"/>
              </a:rPr>
              <a:t>•  Features: 108 columns after one-hot encoding of categorical variables</a:t>
            </a:r>
          </a:p>
          <a:p>
            <a:pPr marL="50800" indent="0" algn="l">
              <a:spcAft>
                <a:spcPts val="400"/>
              </a:spcAft>
              <a:buNone/>
            </a:pPr>
            <a:r>
              <a:rPr sz="1800" b="0" dirty="0">
                <a:latin typeface="Times New Roman"/>
              </a:rPr>
              <a:t>    •  Target Variable: Binary classification (Income &gt;50K or &lt;=50K)</a:t>
            </a:r>
          </a:p>
          <a:p>
            <a:pPr marL="50800" indent="0" algn="l">
              <a:spcAft>
                <a:spcPts val="400"/>
              </a:spcAft>
              <a:buNone/>
            </a:pPr>
            <a:r>
              <a:rPr sz="1800" b="0" dirty="0">
                <a:latin typeface="Times New Roman"/>
              </a:rPr>
              <a:t>    •  Class Di</a:t>
            </a:r>
            <a:r>
              <a:rPr lang="en-US" sz="1800" b="0" dirty="0">
                <a:latin typeface="Times New Roman"/>
              </a:rPr>
              <a:t>s</a:t>
            </a:r>
            <a:r>
              <a:rPr sz="1800" b="0" dirty="0">
                <a:latin typeface="Times New Roman"/>
              </a:rPr>
              <a:t>tribution: ~75% below 50K, ~25% above 50K</a:t>
            </a:r>
          </a:p>
          <a:p>
            <a:pPr marL="50800" indent="0" algn="l">
              <a:spcAft>
                <a:spcPts val="400"/>
              </a:spcAft>
              <a:buNone/>
            </a:pPr>
            <a:r>
              <a:rPr sz="1800" b="0" dirty="0">
                <a:latin typeface="Times New Roman"/>
              </a:rPr>
              <a:t>    •  Training Samples: ~28,952 (split equally across 3 clients)</a:t>
            </a:r>
          </a:p>
          <a:p>
            <a:pPr marL="50800" indent="0" algn="l">
              <a:spcAft>
                <a:spcPts val="400"/>
              </a:spcAft>
              <a:buNone/>
            </a:pPr>
            <a:r>
              <a:rPr sz="1800" b="0" dirty="0">
                <a:latin typeface="Times New Roman"/>
              </a:rPr>
              <a:t>    •  Test Samples: ~7,225 (held-out evaluation set)</a:t>
            </a:r>
          </a:p>
          <a:p>
            <a:pPr marL="50800" indent="0" algn="l">
              <a:spcAft>
                <a:spcPts val="400"/>
              </a:spcAft>
              <a:buNone/>
            </a:pPr>
            <a:r>
              <a:rPr sz="1800" b="0" dirty="0">
                <a:latin typeface="Times New Roman"/>
              </a:rPr>
              <a:t>    •  Preprocessing: </a:t>
            </a:r>
            <a:r>
              <a:rPr sz="1800" b="0" dirty="0" err="1">
                <a:latin typeface="Times New Roman"/>
              </a:rPr>
              <a:t>StandardScaler</a:t>
            </a:r>
            <a:r>
              <a:rPr sz="1800" b="0" dirty="0">
                <a:latin typeface="Times New Roman"/>
              </a:rPr>
              <a:t> applied after one-hot encoding</a:t>
            </a:r>
          </a:p>
          <a:p>
            <a:pPr algn="l">
              <a:spcAft>
                <a:spcPts val="200"/>
              </a:spcAft>
            </a:pPr>
            <a:endParaRPr sz="1800" b="0" dirty="0">
              <a:latin typeface="Times New Roman"/>
            </a:endParaRPr>
          </a:p>
          <a:p>
            <a:pPr marL="50800" indent="0" algn="l">
              <a:spcAft>
                <a:spcPts val="400"/>
              </a:spcAft>
              <a:buNone/>
            </a:pPr>
            <a:r>
              <a:rPr sz="2000" b="1" dirty="0">
                <a:latin typeface="Times New Roman"/>
              </a:rPr>
              <a:t>Configuration Parameters:</a:t>
            </a:r>
          </a:p>
          <a:p>
            <a:pPr marL="50800" indent="0" algn="l">
              <a:spcAft>
                <a:spcPts val="400"/>
              </a:spcAft>
              <a:buNone/>
            </a:pPr>
            <a:r>
              <a:rPr sz="1800" b="0" dirty="0">
                <a:latin typeface="Times New Roman"/>
              </a:rPr>
              <a:t>    •  Number of Clients: 3 (Hospital A, Bank B, Agency C)</a:t>
            </a:r>
          </a:p>
          <a:p>
            <a:pPr marL="50800" indent="0" algn="l">
              <a:spcAft>
                <a:spcPts val="400"/>
              </a:spcAft>
              <a:buNone/>
            </a:pPr>
            <a:r>
              <a:rPr sz="1800" b="0" dirty="0">
                <a:latin typeface="Times New Roman"/>
              </a:rPr>
              <a:t>    •  Training Rounds: 10</a:t>
            </a:r>
          </a:p>
          <a:p>
            <a:pPr marL="50800" indent="0" algn="l">
              <a:spcAft>
                <a:spcPts val="400"/>
              </a:spcAft>
              <a:buNone/>
            </a:pPr>
            <a:r>
              <a:rPr sz="1800" b="0" dirty="0">
                <a:latin typeface="Times New Roman"/>
              </a:rPr>
              <a:t>    •  Model: </a:t>
            </a:r>
            <a:r>
              <a:rPr sz="1800" b="0" dirty="0" err="1">
                <a:latin typeface="Times New Roman"/>
              </a:rPr>
              <a:t>SGDClassifier</a:t>
            </a:r>
            <a:r>
              <a:rPr sz="1800" b="0" dirty="0">
                <a:latin typeface="Times New Roman"/>
              </a:rPr>
              <a:t> (logistic regression with stochastic gradient descent)</a:t>
            </a:r>
          </a:p>
          <a:p>
            <a:pPr marL="50800" indent="0" algn="l">
              <a:spcAft>
                <a:spcPts val="400"/>
              </a:spcAft>
              <a:buNone/>
            </a:pPr>
            <a:r>
              <a:rPr sz="1800" b="0" dirty="0">
                <a:latin typeface="Times New Roman"/>
              </a:rPr>
              <a:t>    •  Learning Rate: 0.01 (fixed across all rounds)</a:t>
            </a:r>
          </a:p>
          <a:p>
            <a:pPr marL="50800" indent="0" algn="l">
              <a:spcAft>
                <a:spcPts val="400"/>
              </a:spcAft>
              <a:buNone/>
            </a:pPr>
            <a:r>
              <a:rPr sz="1800" b="0" dirty="0">
                <a:latin typeface="Times New Roman"/>
              </a:rPr>
              <a:t>    •  DP Epsilon: 10.0 | DP Clip Bound: 1.0 | Sigma: 0.1</a:t>
            </a:r>
          </a:p>
          <a:p>
            <a:pPr marL="50800" indent="0" algn="l">
              <a:spcAft>
                <a:spcPts val="400"/>
              </a:spcAft>
              <a:buNone/>
            </a:pPr>
            <a:r>
              <a:rPr sz="1800" b="0" dirty="0">
                <a:latin typeface="Times New Roman"/>
              </a:rPr>
              <a:t>    •  </a:t>
            </a:r>
            <a:r>
              <a:rPr sz="1800" b="0" dirty="0" err="1">
                <a:latin typeface="Times New Roman"/>
              </a:rPr>
              <a:t>Paillier</a:t>
            </a:r>
            <a:r>
              <a:rPr sz="1800" b="0" dirty="0">
                <a:latin typeface="Times New Roman"/>
              </a:rPr>
              <a:t> Key Size: 2048 bits | Kyber: 768 | </a:t>
            </a:r>
            <a:r>
              <a:rPr sz="1800" b="0" dirty="0" err="1">
                <a:latin typeface="Times New Roman"/>
              </a:rPr>
              <a:t>Dilithium</a:t>
            </a:r>
            <a:r>
              <a:rPr sz="1800" b="0" dirty="0">
                <a:latin typeface="Times New Roman"/>
              </a:rPr>
              <a:t>: Level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Times New Roman"/>
              </a:rPr>
              <a:t>Methodology – Training Pipeline</a:t>
            </a:r>
          </a:p>
        </p:txBody>
      </p:sp>
      <p:sp>
        <p:nvSpPr>
          <p:cNvPr id="3" name="Text Placeholder 2"/>
          <p:cNvSpPr>
            <a:spLocks noGrp="1"/>
          </p:cNvSpPr>
          <p:nvPr>
            <p:ph type="body" idx="1"/>
          </p:nvPr>
        </p:nvSpPr>
        <p:spPr>
          <a:xfrm>
            <a:off x="415600" y="1255267"/>
            <a:ext cx="11360700" cy="4877717"/>
          </a:xfrm>
        </p:spPr>
        <p:txBody>
          <a:bodyPr wrap="square"/>
          <a:lstStyle/>
          <a:p>
            <a:pPr marL="50800" indent="0" algn="l">
              <a:spcAft>
                <a:spcPts val="400"/>
              </a:spcAft>
              <a:buNone/>
            </a:pPr>
            <a:r>
              <a:rPr sz="1700" b="1" dirty="0">
                <a:latin typeface="Times New Roman"/>
              </a:rPr>
              <a:t>Each federated training round follows these steps:</a:t>
            </a:r>
          </a:p>
          <a:p>
            <a:pPr algn="l">
              <a:spcAft>
                <a:spcPts val="200"/>
              </a:spcAft>
            </a:pPr>
            <a:endParaRPr sz="1700" b="1" dirty="0">
              <a:latin typeface="Times New Roman"/>
            </a:endParaRPr>
          </a:p>
          <a:p>
            <a:pPr marL="50800" indent="0" algn="l">
              <a:spcAft>
                <a:spcPts val="400"/>
              </a:spcAft>
              <a:buNone/>
            </a:pPr>
            <a:r>
              <a:rPr sz="1700" b="0" dirty="0">
                <a:latin typeface="Times New Roman"/>
              </a:rPr>
              <a:t>    Step 1: The server sends the current global model weights to all three clients.</a:t>
            </a:r>
          </a:p>
          <a:p>
            <a:pPr marL="50800" indent="0" algn="l">
              <a:spcAft>
                <a:spcPts val="400"/>
              </a:spcAft>
              <a:buNone/>
            </a:pPr>
            <a:r>
              <a:rPr sz="1700" b="0" dirty="0">
                <a:latin typeface="Times New Roman"/>
              </a:rPr>
              <a:t>    Step 2: Each client trains the model on its own local data using scikit-</a:t>
            </a:r>
            <a:r>
              <a:rPr sz="1700" b="0" dirty="0" err="1">
                <a:latin typeface="Times New Roman"/>
              </a:rPr>
              <a:t>learn's</a:t>
            </a:r>
            <a:r>
              <a:rPr sz="1700" b="0" dirty="0">
                <a:latin typeface="Times New Roman"/>
              </a:rPr>
              <a:t> </a:t>
            </a:r>
            <a:r>
              <a:rPr sz="1700" b="0" dirty="0" err="1">
                <a:latin typeface="Times New Roman"/>
              </a:rPr>
              <a:t>SGDClassifier</a:t>
            </a:r>
            <a:r>
              <a:rPr sz="1700" b="0" dirty="0">
                <a:latin typeface="Times New Roman"/>
              </a:rPr>
              <a:t>.</a:t>
            </a:r>
          </a:p>
          <a:p>
            <a:pPr marL="50800" indent="0" algn="l">
              <a:spcAft>
                <a:spcPts val="400"/>
              </a:spcAft>
              <a:buNone/>
            </a:pPr>
            <a:r>
              <a:rPr sz="1700" b="0" dirty="0">
                <a:latin typeface="Times New Roman"/>
              </a:rPr>
              <a:t>    Step 3: Each client calculates how much its local weights changed compared to the global model.</a:t>
            </a:r>
          </a:p>
          <a:p>
            <a:pPr marL="50800" indent="0" algn="l">
              <a:spcAft>
                <a:spcPts val="400"/>
              </a:spcAft>
              <a:buNone/>
            </a:pPr>
            <a:r>
              <a:rPr sz="1700" b="0" dirty="0">
                <a:latin typeface="Times New Roman"/>
              </a:rPr>
              <a:t>    Step 4: Gradient clipping is applied. If the weight change exceeds the clip bound (1.0), it is scaled down to keep it within safe range.</a:t>
            </a:r>
          </a:p>
          <a:p>
            <a:pPr marL="50800" indent="0" algn="l">
              <a:spcAft>
                <a:spcPts val="400"/>
              </a:spcAft>
              <a:buNone/>
            </a:pPr>
            <a:r>
              <a:rPr sz="1700" b="0" dirty="0">
                <a:latin typeface="Times New Roman"/>
              </a:rPr>
              <a:t>    Step 5: Gaussian noise is added to the clipped update. The amount of noise depends on the privacy budget (epsilon = 10.0).</a:t>
            </a:r>
          </a:p>
          <a:p>
            <a:pPr marL="50800" indent="0" algn="l">
              <a:spcAft>
                <a:spcPts val="400"/>
              </a:spcAft>
              <a:buNone/>
            </a:pPr>
            <a:r>
              <a:rPr sz="1700" b="0" dirty="0">
                <a:latin typeface="Times New Roman"/>
              </a:rPr>
              <a:t>    Step 6: The noisy weights are encrypted using the server's </a:t>
            </a:r>
            <a:r>
              <a:rPr sz="1700" b="0" dirty="0" err="1">
                <a:latin typeface="Times New Roman"/>
              </a:rPr>
              <a:t>Paillier</a:t>
            </a:r>
            <a:r>
              <a:rPr sz="1700" b="0" dirty="0">
                <a:latin typeface="Times New Roman"/>
              </a:rPr>
              <a:t> public key. Each weight value is encrypted individually.</a:t>
            </a:r>
          </a:p>
          <a:p>
            <a:pPr marL="50800" indent="0" algn="l">
              <a:spcAft>
                <a:spcPts val="400"/>
              </a:spcAft>
              <a:buNone/>
            </a:pPr>
            <a:r>
              <a:rPr sz="1700" b="0" dirty="0">
                <a:latin typeface="Times New Roman"/>
              </a:rPr>
              <a:t>    Step 7: The client signs the encrypted package using its </a:t>
            </a:r>
            <a:r>
              <a:rPr sz="1700" b="0" dirty="0" err="1">
                <a:latin typeface="Times New Roman"/>
              </a:rPr>
              <a:t>Dilithium</a:t>
            </a:r>
            <a:r>
              <a:rPr sz="1700" b="0" dirty="0">
                <a:latin typeface="Times New Roman"/>
              </a:rPr>
              <a:t> private key and encrypts everything again using AES-256-GCM with a Kyber session key.</a:t>
            </a:r>
          </a:p>
          <a:p>
            <a:pPr marL="50800" indent="0" algn="l">
              <a:spcAft>
                <a:spcPts val="400"/>
              </a:spcAft>
              <a:buNone/>
            </a:pPr>
            <a:r>
              <a:rPr sz="1700" b="0" dirty="0">
                <a:latin typeface="Times New Roman"/>
              </a:rPr>
              <a:t>    Step 8: The server receives the package, decrypts the AES layer, verifies the </a:t>
            </a:r>
            <a:r>
              <a:rPr sz="1700" b="0" dirty="0" err="1">
                <a:latin typeface="Times New Roman"/>
              </a:rPr>
              <a:t>Dilithium</a:t>
            </a:r>
            <a:r>
              <a:rPr sz="1700" b="0" dirty="0">
                <a:latin typeface="Times New Roman"/>
              </a:rPr>
              <a:t> signature, and extracts the </a:t>
            </a:r>
            <a:r>
              <a:rPr sz="1700" b="0" dirty="0" err="1">
                <a:latin typeface="Times New Roman"/>
              </a:rPr>
              <a:t>Paillier</a:t>
            </a:r>
            <a:r>
              <a:rPr sz="1700" b="0" dirty="0">
                <a:latin typeface="Times New Roman"/>
              </a:rPr>
              <a:t>-encrypted weights.</a:t>
            </a:r>
          </a:p>
          <a:p>
            <a:pPr marL="50800" indent="0" algn="l">
              <a:spcAft>
                <a:spcPts val="400"/>
              </a:spcAft>
              <a:buNone/>
            </a:pPr>
            <a:r>
              <a:rPr sz="1700" b="0" dirty="0">
                <a:latin typeface="Times New Roman"/>
              </a:rPr>
              <a:t>    Step 9: The server performs homomorphic addition on all encrypted weights and decrypts only the total to get the updated global model.</a:t>
            </a:r>
          </a:p>
          <a:p>
            <a:pPr marL="50800" indent="0" algn="l">
              <a:spcAft>
                <a:spcPts val="400"/>
              </a:spcAft>
              <a:buNone/>
            </a:pPr>
            <a:r>
              <a:rPr sz="1700" b="0" dirty="0">
                <a:latin typeface="Times New Roman"/>
              </a:rPr>
              <a:t>    Step 10: The new global model is evaluated on the held-out test set.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Times New Roman"/>
              </a:rPr>
              <a:t>Implementation – Backend</a:t>
            </a:r>
          </a:p>
        </p:txBody>
      </p:sp>
      <p:sp>
        <p:nvSpPr>
          <p:cNvPr id="3" name="Text Placeholder 2"/>
          <p:cNvSpPr>
            <a:spLocks noGrp="1"/>
          </p:cNvSpPr>
          <p:nvPr>
            <p:ph type="body" idx="1"/>
          </p:nvPr>
        </p:nvSpPr>
        <p:spPr>
          <a:xfrm>
            <a:off x="415600" y="1092900"/>
            <a:ext cx="11360700" cy="4672200"/>
          </a:xfrm>
        </p:spPr>
        <p:txBody>
          <a:bodyPr wrap="square"/>
          <a:lstStyle/>
          <a:p>
            <a:pPr marL="50800" indent="0" algn="l">
              <a:spcAft>
                <a:spcPts val="400"/>
              </a:spcAft>
              <a:buNone/>
            </a:pPr>
            <a:r>
              <a:rPr sz="1600" b="0" dirty="0">
                <a:latin typeface="Times New Roman"/>
              </a:rPr>
              <a:t>The backend is written in Python 3.12 and uses the following key libraries:</a:t>
            </a:r>
          </a:p>
          <a:p>
            <a:pPr algn="l">
              <a:spcAft>
                <a:spcPts val="200"/>
              </a:spcAft>
            </a:pPr>
            <a:endParaRPr sz="1600" b="0" dirty="0">
              <a:latin typeface="Times New Roman"/>
            </a:endParaRPr>
          </a:p>
          <a:p>
            <a:pPr marL="50800" indent="0" algn="l">
              <a:spcAft>
                <a:spcPts val="400"/>
              </a:spcAft>
              <a:buNone/>
            </a:pPr>
            <a:r>
              <a:rPr sz="1600" b="0" dirty="0">
                <a:latin typeface="Times New Roman"/>
              </a:rPr>
              <a:t>    •  </a:t>
            </a:r>
            <a:r>
              <a:rPr sz="1600" b="0" dirty="0" err="1">
                <a:latin typeface="Times New Roman"/>
              </a:rPr>
              <a:t>oqs</a:t>
            </a:r>
            <a:r>
              <a:rPr sz="1600" b="0" dirty="0">
                <a:latin typeface="Times New Roman"/>
              </a:rPr>
              <a:t>-python (v0.10.0): Provides CRYSTALS-Kyber-768 and CRYSTALS-Dilithium-44 through the Open Quantum Safe (</a:t>
            </a:r>
            <a:r>
              <a:rPr sz="1600" b="0" dirty="0" err="1">
                <a:latin typeface="Times New Roman"/>
              </a:rPr>
              <a:t>liboqs</a:t>
            </a:r>
            <a:r>
              <a:rPr sz="1600" b="0" dirty="0">
                <a:latin typeface="Times New Roman"/>
              </a:rPr>
              <a:t>) C library. Handles key encapsulation and digital signature operations.</a:t>
            </a:r>
          </a:p>
          <a:p>
            <a:pPr marL="50800" indent="0" algn="l">
              <a:spcAft>
                <a:spcPts val="200"/>
              </a:spcAft>
              <a:buNone/>
            </a:pPr>
            <a:endParaRPr sz="1600" b="0" dirty="0">
              <a:latin typeface="Times New Roman"/>
            </a:endParaRPr>
          </a:p>
          <a:p>
            <a:pPr marL="50800" indent="0" algn="l">
              <a:spcAft>
                <a:spcPts val="400"/>
              </a:spcAft>
              <a:buNone/>
            </a:pPr>
            <a:r>
              <a:rPr sz="1600" b="0" dirty="0">
                <a:latin typeface="Times New Roman"/>
              </a:rPr>
              <a:t>    •  </a:t>
            </a:r>
            <a:r>
              <a:rPr sz="1600" b="0" dirty="0" err="1">
                <a:latin typeface="Times New Roman"/>
              </a:rPr>
              <a:t>phe</a:t>
            </a:r>
            <a:r>
              <a:rPr sz="1600" b="0" dirty="0">
                <a:latin typeface="Times New Roman"/>
              </a:rPr>
              <a:t> (v1.5.0): Python library for </a:t>
            </a:r>
            <a:r>
              <a:rPr sz="1600" b="0" dirty="0" err="1">
                <a:latin typeface="Times New Roman"/>
              </a:rPr>
              <a:t>Paillier</a:t>
            </a:r>
            <a:r>
              <a:rPr sz="1600" b="0" dirty="0">
                <a:latin typeface="Times New Roman"/>
              </a:rPr>
              <a:t> homomorphic encryption with 2048-bit keys. Supports additive homomorphic operations needed for federated weight aggregation.</a:t>
            </a:r>
          </a:p>
          <a:p>
            <a:pPr algn="l">
              <a:spcAft>
                <a:spcPts val="200"/>
              </a:spcAft>
            </a:pPr>
            <a:endParaRPr sz="1600" b="0" dirty="0">
              <a:latin typeface="Times New Roman"/>
            </a:endParaRPr>
          </a:p>
          <a:p>
            <a:pPr marL="50800" indent="0" algn="l">
              <a:spcAft>
                <a:spcPts val="400"/>
              </a:spcAft>
              <a:buNone/>
            </a:pPr>
            <a:r>
              <a:rPr sz="1600" b="0" dirty="0">
                <a:latin typeface="Times New Roman"/>
              </a:rPr>
              <a:t>    •  cryptography (v42.x): Used for AES-256-GCM symmetric encryption. Provides authenticated encryption with additional data (AEAD).</a:t>
            </a:r>
          </a:p>
          <a:p>
            <a:pPr algn="l">
              <a:spcAft>
                <a:spcPts val="200"/>
              </a:spcAft>
            </a:pPr>
            <a:endParaRPr sz="1600" b="0" dirty="0">
              <a:latin typeface="Times New Roman"/>
            </a:endParaRPr>
          </a:p>
          <a:p>
            <a:pPr marL="50800" indent="0" algn="l">
              <a:spcAft>
                <a:spcPts val="400"/>
              </a:spcAft>
              <a:buNone/>
            </a:pPr>
            <a:r>
              <a:rPr sz="1600" b="0" dirty="0">
                <a:latin typeface="Times New Roman"/>
              </a:rPr>
              <a:t>    •  scikit-learn (v1.4.x): </a:t>
            </a:r>
            <a:r>
              <a:rPr sz="1600" b="0" dirty="0" err="1">
                <a:latin typeface="Times New Roman"/>
              </a:rPr>
              <a:t>SGDClassifier</a:t>
            </a:r>
            <a:r>
              <a:rPr sz="1600" b="0" dirty="0">
                <a:latin typeface="Times New Roman"/>
              </a:rPr>
              <a:t> model for logistic regression with stochastic gradient descent. Also used for data preprocessing (</a:t>
            </a:r>
            <a:r>
              <a:rPr sz="1600" b="0" dirty="0" err="1">
                <a:latin typeface="Times New Roman"/>
              </a:rPr>
              <a:t>StandardScaler</a:t>
            </a:r>
            <a:r>
              <a:rPr sz="1600" b="0" dirty="0">
                <a:latin typeface="Times New Roman"/>
              </a:rPr>
              <a:t>, </a:t>
            </a:r>
            <a:r>
              <a:rPr sz="1600" b="0" dirty="0" err="1">
                <a:latin typeface="Times New Roman"/>
              </a:rPr>
              <a:t>OneHotEncoder</a:t>
            </a:r>
            <a:r>
              <a:rPr sz="1600" b="0" dirty="0">
                <a:latin typeface="Times New Roman"/>
              </a:rPr>
              <a:t>).</a:t>
            </a:r>
          </a:p>
          <a:p>
            <a:pPr marL="50800" indent="0" algn="l">
              <a:spcAft>
                <a:spcPts val="200"/>
              </a:spcAft>
              <a:buNone/>
            </a:pPr>
            <a:endParaRPr sz="1600" b="0" dirty="0">
              <a:latin typeface="Times New Roman"/>
            </a:endParaRPr>
          </a:p>
          <a:p>
            <a:pPr marL="50800" indent="0" algn="l">
              <a:spcAft>
                <a:spcPts val="400"/>
              </a:spcAft>
              <a:buNone/>
            </a:pPr>
            <a:r>
              <a:rPr sz="1600" b="0" dirty="0">
                <a:latin typeface="Times New Roman"/>
              </a:rPr>
              <a:t>    •  </a:t>
            </a:r>
            <a:r>
              <a:rPr sz="1600" b="0" dirty="0" err="1">
                <a:latin typeface="Times New Roman"/>
              </a:rPr>
              <a:t>FastAPI</a:t>
            </a:r>
            <a:r>
              <a:rPr sz="1600" b="0" dirty="0">
                <a:latin typeface="Times New Roman"/>
              </a:rPr>
              <a:t> (v0.110.x) + </a:t>
            </a:r>
            <a:r>
              <a:rPr sz="1600" b="0" dirty="0" err="1">
                <a:latin typeface="Times New Roman"/>
              </a:rPr>
              <a:t>Uvicorn</a:t>
            </a:r>
            <a:r>
              <a:rPr sz="1600" b="0" dirty="0">
                <a:latin typeface="Times New Roman"/>
              </a:rPr>
              <a:t>: REST API framework that connects the React dashboard to the federated learning pipeline. Provides endpoints for handshake, training, status queries, and attack simulations.</a:t>
            </a:r>
          </a:p>
          <a:p>
            <a:pPr algn="l">
              <a:spcAft>
                <a:spcPts val="200"/>
              </a:spcAft>
            </a:pPr>
            <a:endParaRPr sz="1600" b="0" dirty="0">
              <a:latin typeface="Times New Roman"/>
            </a:endParaRPr>
          </a:p>
          <a:p>
            <a:pPr marL="50800" indent="0" algn="l">
              <a:spcAft>
                <a:spcPts val="400"/>
              </a:spcAft>
              <a:buNone/>
            </a:pPr>
            <a:r>
              <a:rPr sz="1600" b="0" dirty="0">
                <a:latin typeface="Times New Roman"/>
              </a:rPr>
              <a:t>    •  NumPy (v1.26.x): Numerical operations on weight arrays, gradient clipping, and noise generation.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a:rPr>
              <a:t>Implementation – Frontend &amp; API</a:t>
            </a:r>
          </a:p>
        </p:txBody>
      </p:sp>
      <p:sp>
        <p:nvSpPr>
          <p:cNvPr id="3" name="Text Placeholder 2"/>
          <p:cNvSpPr>
            <a:spLocks noGrp="1"/>
          </p:cNvSpPr>
          <p:nvPr>
            <p:ph type="body" idx="1"/>
          </p:nvPr>
        </p:nvSpPr>
        <p:spPr>
          <a:xfrm>
            <a:off x="415600" y="1255267"/>
            <a:ext cx="11360700" cy="4672200"/>
          </a:xfrm>
        </p:spPr>
        <p:txBody>
          <a:bodyPr wrap="square"/>
          <a:lstStyle/>
          <a:p>
            <a:pPr marL="50800" indent="0" algn="l">
              <a:spcAft>
                <a:spcPts val="400"/>
              </a:spcAft>
              <a:buNone/>
            </a:pPr>
            <a:r>
              <a:rPr sz="1800" b="1" dirty="0">
                <a:latin typeface="Times New Roman"/>
              </a:rPr>
              <a:t>Cyber-SOC Dashboard (React 18 + Vite 5):</a:t>
            </a:r>
          </a:p>
          <a:p>
            <a:pPr marL="50800" indent="0" algn="l">
              <a:spcAft>
                <a:spcPts val="400"/>
              </a:spcAft>
              <a:buNone/>
            </a:pPr>
            <a:r>
              <a:rPr sz="1600" b="0" dirty="0">
                <a:latin typeface="Times New Roman"/>
              </a:rPr>
              <a:t>The dashboard provides real-time monitoring of the entire federated learning pipeline. It is divided into three panels:</a:t>
            </a:r>
          </a:p>
          <a:p>
            <a:pPr algn="l">
              <a:spcAft>
                <a:spcPts val="200"/>
              </a:spcAft>
            </a:pPr>
            <a:endParaRPr sz="1600" b="0" dirty="0">
              <a:latin typeface="Times New Roman"/>
            </a:endParaRPr>
          </a:p>
          <a:p>
            <a:pPr marL="50800" indent="0" algn="l">
              <a:spcAft>
                <a:spcPts val="400"/>
              </a:spcAft>
              <a:buNone/>
            </a:pPr>
            <a:r>
              <a:rPr sz="1600" b="0" dirty="0">
                <a:latin typeface="Times New Roman"/>
              </a:rPr>
              <a:t>    •  Left Panel: Displays the Kyber handshake status, a privacy slider for adjusting the DP epsilon value in real time, and buttons to trigger MITM and Quantum attack simulations.</a:t>
            </a:r>
          </a:p>
          <a:p>
            <a:pPr marL="50800" indent="0" algn="l">
              <a:spcAft>
                <a:spcPts val="400"/>
              </a:spcAft>
              <a:buNone/>
            </a:pPr>
            <a:r>
              <a:rPr sz="1600" b="0" dirty="0">
                <a:latin typeface="Times New Roman"/>
              </a:rPr>
              <a:t>    •  Centre Panel: Shows a visual topology of the three clients (Hospital A, Bank B, Agency C) connected to the central server. Each client displays its current status (IDLE, TRAINING, ENCRYPTING, SENT), local accuracy, and privacy budget consumed. Animated arrows (Framer Motion) show data flowing to the server. Below this, a line chart (Recharts) plots the global accuracy after each round.</a:t>
            </a:r>
          </a:p>
          <a:p>
            <a:pPr marL="50800" indent="0" algn="l">
              <a:spcAft>
                <a:spcPts val="400"/>
              </a:spcAft>
              <a:buNone/>
            </a:pPr>
            <a:r>
              <a:rPr sz="1600" b="0" dirty="0">
                <a:latin typeface="Times New Roman"/>
              </a:rPr>
              <a:t>    •  Right Panel: A real-time log console displaying timestamped messages for every cryptographic and training operation.</a:t>
            </a:r>
          </a:p>
          <a:p>
            <a:pPr algn="l">
              <a:spcAft>
                <a:spcPts val="200"/>
              </a:spcAft>
            </a:pPr>
            <a:endParaRPr sz="1600" b="0" dirty="0">
              <a:latin typeface="Times New Roman"/>
            </a:endParaRPr>
          </a:p>
          <a:p>
            <a:pPr marL="50800" indent="0" algn="l">
              <a:spcAft>
                <a:spcPts val="400"/>
              </a:spcAft>
              <a:buNone/>
            </a:pPr>
            <a:r>
              <a:rPr sz="1800" b="1" dirty="0">
                <a:latin typeface="Times New Roman"/>
              </a:rPr>
              <a:t>API Endpoints:</a:t>
            </a:r>
          </a:p>
          <a:p>
            <a:pPr marL="50800" indent="0" algn="l">
              <a:spcAft>
                <a:spcPts val="400"/>
              </a:spcAft>
              <a:buNone/>
            </a:pPr>
            <a:r>
              <a:rPr sz="1600" b="0" dirty="0">
                <a:latin typeface="Times New Roman"/>
              </a:rPr>
              <a:t>    •  POST /handshake – Initiates Kyber key exchange and </a:t>
            </a:r>
            <a:r>
              <a:rPr sz="1600" b="0" dirty="0" err="1">
                <a:latin typeface="Times New Roman"/>
              </a:rPr>
              <a:t>Dilithium</a:t>
            </a:r>
            <a:r>
              <a:rPr sz="1600" b="0" dirty="0">
                <a:latin typeface="Times New Roman"/>
              </a:rPr>
              <a:t> key pair generation for all clients. Establishes secure session.</a:t>
            </a:r>
          </a:p>
          <a:p>
            <a:pPr marL="50800" indent="0" algn="l">
              <a:spcAft>
                <a:spcPts val="400"/>
              </a:spcAft>
              <a:buNone/>
            </a:pPr>
            <a:r>
              <a:rPr sz="1600" b="0" dirty="0">
                <a:latin typeface="Times New Roman"/>
              </a:rPr>
              <a:t>    •  POST /train – Runs one complete round of federated training (local training, DP, HE, PQC, aggregation, evaluation).</a:t>
            </a:r>
          </a:p>
          <a:p>
            <a:pPr marL="50800" indent="0" algn="l">
              <a:spcAft>
                <a:spcPts val="400"/>
              </a:spcAft>
              <a:buNone/>
            </a:pPr>
            <a:r>
              <a:rPr sz="1600" b="0" dirty="0">
                <a:latin typeface="Times New Roman"/>
              </a:rPr>
              <a:t>    •  GET /status – Returns current state of all clients, server, and training progress.</a:t>
            </a:r>
          </a:p>
          <a:p>
            <a:pPr marL="50800" indent="0" algn="l">
              <a:spcAft>
                <a:spcPts val="400"/>
              </a:spcAft>
              <a:buNone/>
            </a:pPr>
            <a:r>
              <a:rPr sz="1600" b="0" dirty="0">
                <a:latin typeface="Times New Roman"/>
              </a:rPr>
              <a:t>    •  POST /attack/</a:t>
            </a:r>
            <a:r>
              <a:rPr sz="1600" b="0" dirty="0" err="1">
                <a:latin typeface="Times New Roman"/>
              </a:rPr>
              <a:t>mitm</a:t>
            </a:r>
            <a:r>
              <a:rPr sz="1600" b="0" dirty="0">
                <a:latin typeface="Times New Roman"/>
              </a:rPr>
              <a:t> – Simulates a man-in-the-middle attack; shows detection via </a:t>
            </a:r>
            <a:r>
              <a:rPr sz="1600" b="0" dirty="0" err="1">
                <a:latin typeface="Times New Roman"/>
              </a:rPr>
              <a:t>Dilithium</a:t>
            </a:r>
            <a:r>
              <a:rPr sz="1600" b="0" dirty="0">
                <a:latin typeface="Times New Roman"/>
              </a:rPr>
              <a:t> signature verification failure.</a:t>
            </a:r>
          </a:p>
          <a:p>
            <a:pPr marL="50800" indent="0" algn="l">
              <a:spcAft>
                <a:spcPts val="400"/>
              </a:spcAft>
              <a:buNone/>
            </a:pPr>
            <a:r>
              <a:rPr sz="1600" b="0" dirty="0">
                <a:latin typeface="Times New Roman"/>
              </a:rPr>
              <a:t>    •  POST /attack/quantum – Simulates a quantum attack attempt; triggers automatic Kyber key rotation.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Times New Roman"/>
              </a:rPr>
              <a:t>Results – Training Accuracy</a:t>
            </a:r>
          </a:p>
        </p:txBody>
      </p:sp>
      <p:sp>
        <p:nvSpPr>
          <p:cNvPr id="3" name="Text Placeholder 2"/>
          <p:cNvSpPr>
            <a:spLocks noGrp="1"/>
          </p:cNvSpPr>
          <p:nvPr>
            <p:ph type="body" idx="1"/>
          </p:nvPr>
        </p:nvSpPr>
        <p:spPr>
          <a:xfrm>
            <a:off x="415600" y="1092899"/>
            <a:ext cx="11360700" cy="5628411"/>
          </a:xfrm>
        </p:spPr>
        <p:txBody>
          <a:bodyPr wrap="square"/>
          <a:lstStyle/>
          <a:p>
            <a:pPr marL="50800" indent="0" algn="l">
              <a:spcAft>
                <a:spcPts val="400"/>
              </a:spcAft>
              <a:buNone/>
            </a:pPr>
            <a:r>
              <a:rPr sz="1800" b="0" dirty="0">
                <a:latin typeface="Times New Roman"/>
              </a:rPr>
              <a:t>The system was tested end-to-end with three federated clients, ten training rounds, and the full security stack enabled.</a:t>
            </a:r>
          </a:p>
          <a:p>
            <a:pPr marL="50800" indent="0" algn="l">
              <a:spcAft>
                <a:spcPts val="400"/>
              </a:spcAft>
              <a:buNone/>
            </a:pPr>
            <a:r>
              <a:rPr sz="1800" b="1" dirty="0">
                <a:latin typeface="Times New Roman"/>
              </a:rPr>
              <a:t>Global Model Accuracy Across Rounds:</a:t>
            </a:r>
          </a:p>
          <a:p>
            <a:pPr marL="50800" indent="0" algn="l">
              <a:spcAft>
                <a:spcPts val="400"/>
              </a:spcAft>
              <a:buNone/>
            </a:pPr>
            <a:r>
              <a:rPr sz="1600" b="0" dirty="0">
                <a:latin typeface="Times New Roman"/>
              </a:rPr>
              <a:t>    Round 1: 63.13%    |    Round 2: 66.84%    |    Round 3: 70.21%</a:t>
            </a:r>
          </a:p>
          <a:p>
            <a:pPr marL="50800" indent="0" algn="l">
              <a:spcAft>
                <a:spcPts val="400"/>
              </a:spcAft>
              <a:buNone/>
            </a:pPr>
            <a:r>
              <a:rPr sz="1600" b="0" dirty="0">
                <a:latin typeface="Times New Roman"/>
              </a:rPr>
              <a:t>    Round 4: 69.58%    |    Round 5: 70.67%    |    Round 6: 70.30%</a:t>
            </a:r>
          </a:p>
          <a:p>
            <a:pPr marL="50800" indent="0" algn="l">
              <a:spcAft>
                <a:spcPts val="400"/>
              </a:spcAft>
              <a:buNone/>
            </a:pPr>
            <a:r>
              <a:rPr sz="1600" b="0" dirty="0">
                <a:latin typeface="Times New Roman"/>
              </a:rPr>
              <a:t>    Round 7: 69.89%    |    Round 8: 65.12%    |    Round 9: 71.45%</a:t>
            </a:r>
          </a:p>
          <a:p>
            <a:pPr marL="50800" indent="0" algn="l">
              <a:spcAft>
                <a:spcPts val="400"/>
              </a:spcAft>
              <a:buNone/>
            </a:pPr>
            <a:r>
              <a:rPr sz="1800" b="1" dirty="0">
                <a:latin typeface="Times New Roman"/>
              </a:rPr>
              <a:t>    Round 10: 74.16% (final)</a:t>
            </a:r>
          </a:p>
          <a:p>
            <a:pPr algn="l">
              <a:spcAft>
                <a:spcPts val="200"/>
              </a:spcAft>
            </a:pPr>
            <a:endParaRPr sz="1800" b="1" dirty="0">
              <a:latin typeface="Times New Roman"/>
            </a:endParaRPr>
          </a:p>
          <a:p>
            <a:pPr marL="50800" indent="0" algn="l">
              <a:spcAft>
                <a:spcPts val="400"/>
              </a:spcAft>
              <a:buNone/>
            </a:pPr>
            <a:r>
              <a:rPr sz="1600" b="0" dirty="0">
                <a:latin typeface="Times New Roman"/>
              </a:rPr>
              <a:t>The model starts at about 63% and reaches 74% by round 10. The curve is not perfectly smooth. Round 8 dips to 65%, which initially appeared as a bug but turned out to be a direct consequence of the Gaussian DP noise. The noise fluctuations actually confirm that the privacy layer is working as intended.</a:t>
            </a:r>
          </a:p>
          <a:p>
            <a:pPr algn="l">
              <a:spcAft>
                <a:spcPts val="200"/>
              </a:spcAft>
            </a:pPr>
            <a:endParaRPr sz="1600" b="0" dirty="0">
              <a:latin typeface="Times New Roman"/>
            </a:endParaRPr>
          </a:p>
          <a:p>
            <a:pPr marL="50800" indent="0" algn="l">
              <a:spcAft>
                <a:spcPts val="400"/>
              </a:spcAft>
              <a:buNone/>
            </a:pPr>
            <a:r>
              <a:rPr sz="1800" b="1" dirty="0">
                <a:latin typeface="Times New Roman"/>
              </a:rPr>
              <a:t>Per-Client Metrics After Round 10:</a:t>
            </a:r>
          </a:p>
          <a:p>
            <a:pPr marL="50800" indent="0" algn="l">
              <a:spcAft>
                <a:spcPts val="400"/>
              </a:spcAft>
              <a:buNone/>
            </a:pPr>
            <a:r>
              <a:rPr sz="1600" b="0" dirty="0">
                <a:latin typeface="Times New Roman"/>
              </a:rPr>
              <a:t>    •  Client 1 (Hospital A): 72.83% accuracy, privacy budget used: 100.0</a:t>
            </a:r>
          </a:p>
          <a:p>
            <a:pPr marL="50800" indent="0" algn="l">
              <a:spcAft>
                <a:spcPts val="400"/>
              </a:spcAft>
              <a:buNone/>
            </a:pPr>
            <a:r>
              <a:rPr sz="1600" b="0" dirty="0">
                <a:latin typeface="Times New Roman"/>
              </a:rPr>
              <a:t>    •  Client 2 (Bank B): 71.45% accuracy, privacy budget used: 100.0</a:t>
            </a:r>
          </a:p>
          <a:p>
            <a:pPr marL="50800" indent="0" algn="l">
              <a:spcAft>
                <a:spcPts val="400"/>
              </a:spcAft>
              <a:buNone/>
            </a:pPr>
            <a:r>
              <a:rPr sz="1600" b="0" dirty="0">
                <a:latin typeface="Times New Roman"/>
              </a:rPr>
              <a:t>    •  Client 3 (Agency C): 73.19% accuracy, privacy budget used: 100.0</a:t>
            </a:r>
          </a:p>
          <a:p>
            <a:pPr algn="l">
              <a:spcAft>
                <a:spcPts val="200"/>
              </a:spcAft>
            </a:pPr>
            <a:endParaRPr sz="1600" b="0" dirty="0">
              <a:latin typeface="Times New Roman"/>
            </a:endParaRPr>
          </a:p>
          <a:p>
            <a:pPr marL="50800" indent="0" algn="l">
              <a:spcAft>
                <a:spcPts val="400"/>
              </a:spcAft>
              <a:buNone/>
            </a:pPr>
            <a:r>
              <a:rPr sz="1600" b="0" dirty="0">
                <a:latin typeface="Times New Roman"/>
              </a:rPr>
              <a:t>The slight variation across clients is expected since each client adds independent random DP noise.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Times New Roman"/>
              </a:rPr>
              <a:t>Results – Performance &amp; Comparison</a:t>
            </a:r>
          </a:p>
        </p:txBody>
      </p:sp>
      <p:sp>
        <p:nvSpPr>
          <p:cNvPr id="3" name="Text Placeholder 2"/>
          <p:cNvSpPr>
            <a:spLocks noGrp="1"/>
          </p:cNvSpPr>
          <p:nvPr>
            <p:ph type="body" idx="1"/>
          </p:nvPr>
        </p:nvSpPr>
        <p:spPr>
          <a:xfrm>
            <a:off x="415600" y="1419388"/>
            <a:ext cx="11776400" cy="4868290"/>
          </a:xfrm>
        </p:spPr>
        <p:txBody>
          <a:bodyPr wrap="square"/>
          <a:lstStyle/>
          <a:p>
            <a:pPr marL="50800" indent="0" algn="l">
              <a:spcAft>
                <a:spcPts val="400"/>
              </a:spcAft>
              <a:buNone/>
            </a:pPr>
            <a:r>
              <a:rPr sz="1800" b="1" dirty="0">
                <a:latin typeface="Times New Roman"/>
              </a:rPr>
              <a:t>Performance Metrics (per round):</a:t>
            </a:r>
          </a:p>
          <a:p>
            <a:pPr marL="50800" indent="0" algn="l">
              <a:spcAft>
                <a:spcPts val="400"/>
              </a:spcAft>
              <a:buNone/>
            </a:pPr>
            <a:r>
              <a:rPr sz="1600" b="0" dirty="0">
                <a:latin typeface="Times New Roman"/>
              </a:rPr>
              <a:t>    •  Kyber-768 Key Exchange: &lt;5 </a:t>
            </a:r>
            <a:r>
              <a:rPr sz="1600" b="0" dirty="0" err="1">
                <a:latin typeface="Times New Roman"/>
              </a:rPr>
              <a:t>ms</a:t>
            </a:r>
            <a:r>
              <a:rPr sz="1600" b="0" dirty="0">
                <a:latin typeface="Times New Roman"/>
              </a:rPr>
              <a:t> per client (negligible overhead)</a:t>
            </a:r>
          </a:p>
          <a:p>
            <a:pPr marL="50800" indent="0" algn="l">
              <a:spcAft>
                <a:spcPts val="400"/>
              </a:spcAft>
              <a:buNone/>
            </a:pPr>
            <a:r>
              <a:rPr sz="1600" b="0" dirty="0">
                <a:latin typeface="Times New Roman"/>
              </a:rPr>
              <a:t>    •  Dilithium-44 Signing: &lt;2 </a:t>
            </a:r>
            <a:r>
              <a:rPr sz="1600" b="0" dirty="0" err="1">
                <a:latin typeface="Times New Roman"/>
              </a:rPr>
              <a:t>ms</a:t>
            </a:r>
            <a:r>
              <a:rPr sz="1600" b="0" dirty="0">
                <a:latin typeface="Times New Roman"/>
              </a:rPr>
              <a:t> per client</a:t>
            </a:r>
          </a:p>
          <a:p>
            <a:pPr marL="50800" indent="0" algn="l">
              <a:spcAft>
                <a:spcPts val="400"/>
              </a:spcAft>
              <a:buNone/>
            </a:pPr>
            <a:r>
              <a:rPr sz="1600" b="0" dirty="0">
                <a:latin typeface="Times New Roman"/>
              </a:rPr>
              <a:t>    •  </a:t>
            </a:r>
            <a:r>
              <a:rPr sz="1600" b="0" dirty="0" err="1">
                <a:latin typeface="Times New Roman"/>
              </a:rPr>
              <a:t>Paillier</a:t>
            </a:r>
            <a:r>
              <a:rPr sz="1600" b="0" dirty="0">
                <a:latin typeface="Times New Roman"/>
              </a:rPr>
              <a:t> Key Generation: 15–30 seconds (one-time startup cost)</a:t>
            </a:r>
          </a:p>
          <a:p>
            <a:pPr marL="50800" indent="0" algn="l">
              <a:spcAft>
                <a:spcPts val="400"/>
              </a:spcAft>
              <a:buNone/>
            </a:pPr>
            <a:r>
              <a:rPr sz="1600" b="0" dirty="0">
                <a:latin typeface="Times New Roman"/>
              </a:rPr>
              <a:t>    •  </a:t>
            </a:r>
            <a:r>
              <a:rPr sz="1600" b="0" dirty="0" err="1">
                <a:latin typeface="Times New Roman"/>
              </a:rPr>
              <a:t>Paillier</a:t>
            </a:r>
            <a:r>
              <a:rPr sz="1600" b="0" dirty="0">
                <a:latin typeface="Times New Roman"/>
              </a:rPr>
              <a:t> Encryption: 2–5 seconds per client (encrypts each weight individually)</a:t>
            </a:r>
          </a:p>
          <a:p>
            <a:pPr marL="50800" indent="0" algn="l">
              <a:spcAft>
                <a:spcPts val="400"/>
              </a:spcAft>
              <a:buNone/>
            </a:pPr>
            <a:r>
              <a:rPr sz="1600" b="0" dirty="0">
                <a:latin typeface="Times New Roman"/>
              </a:rPr>
              <a:t>    •  Homomorphic Aggregation: 1–3 seconds</a:t>
            </a:r>
          </a:p>
          <a:p>
            <a:pPr marL="50800" indent="0" algn="l">
              <a:spcAft>
                <a:spcPts val="400"/>
              </a:spcAft>
              <a:buNone/>
            </a:pPr>
            <a:r>
              <a:rPr sz="1600" b="0" dirty="0">
                <a:latin typeface="Times New Roman"/>
              </a:rPr>
              <a:t>    •  Local Model Training: 200–500 </a:t>
            </a:r>
            <a:r>
              <a:rPr sz="1600" b="0" dirty="0" err="1">
                <a:latin typeface="Times New Roman"/>
              </a:rPr>
              <a:t>ms</a:t>
            </a:r>
            <a:r>
              <a:rPr sz="1600" b="0" dirty="0">
                <a:latin typeface="Times New Roman"/>
              </a:rPr>
              <a:t> per client</a:t>
            </a:r>
          </a:p>
          <a:p>
            <a:pPr marL="50800" indent="0" algn="l">
              <a:spcAft>
                <a:spcPts val="400"/>
              </a:spcAft>
              <a:buNone/>
            </a:pPr>
            <a:r>
              <a:rPr sz="1600" b="0" dirty="0">
                <a:latin typeface="Times New Roman"/>
              </a:rPr>
              <a:t>    •  AES-GCM Encryption/Decryption: &lt;1 </a:t>
            </a:r>
            <a:r>
              <a:rPr sz="1600" b="0" dirty="0" err="1">
                <a:latin typeface="Times New Roman"/>
              </a:rPr>
              <a:t>ms</a:t>
            </a:r>
            <a:endParaRPr sz="1600" b="0" dirty="0">
              <a:latin typeface="Times New Roman"/>
            </a:endParaRPr>
          </a:p>
          <a:p>
            <a:pPr algn="l">
              <a:spcAft>
                <a:spcPts val="200"/>
              </a:spcAft>
            </a:pPr>
            <a:endParaRPr sz="1600" b="0" dirty="0">
              <a:latin typeface="Times New Roman"/>
            </a:endParaRPr>
          </a:p>
          <a:p>
            <a:pPr marL="50800" indent="0" algn="l">
              <a:spcAft>
                <a:spcPts val="400"/>
              </a:spcAft>
              <a:buNone/>
            </a:pPr>
            <a:r>
              <a:rPr sz="1800" b="1" dirty="0">
                <a:latin typeface="Times New Roman"/>
              </a:rPr>
              <a:t>Comparison with Other FL Approaches:</a:t>
            </a:r>
          </a:p>
          <a:p>
            <a:pPr marL="50800" indent="0" algn="l">
              <a:spcAft>
                <a:spcPts val="400"/>
              </a:spcAft>
              <a:buNone/>
            </a:pPr>
            <a:r>
              <a:rPr sz="1600" b="0" dirty="0">
                <a:latin typeface="Times New Roman"/>
              </a:rPr>
              <a:t>    •  Plain FL: No security at all.</a:t>
            </a:r>
          </a:p>
          <a:p>
            <a:pPr marL="50800" indent="0" algn="l">
              <a:spcAft>
                <a:spcPts val="400"/>
              </a:spcAft>
              <a:buNone/>
            </a:pPr>
            <a:r>
              <a:rPr sz="1600" b="0" dirty="0">
                <a:latin typeface="Times New Roman"/>
              </a:rPr>
              <a:t>    •  FL + DP: Only statistical privacy, no encryption.</a:t>
            </a:r>
          </a:p>
          <a:p>
            <a:pPr marL="50800" indent="0" algn="l">
              <a:spcAft>
                <a:spcPts val="400"/>
              </a:spcAft>
              <a:buNone/>
            </a:pPr>
            <a:r>
              <a:rPr sz="1600" b="0" dirty="0">
                <a:latin typeface="Times New Roman"/>
              </a:rPr>
              <a:t>    •  FL + HE: Only encrypted aggregation, not quantum-safe.</a:t>
            </a:r>
          </a:p>
          <a:p>
            <a:pPr marL="50800" indent="0" algn="l">
              <a:spcAft>
                <a:spcPts val="400"/>
              </a:spcAft>
              <a:buNone/>
            </a:pPr>
            <a:r>
              <a:rPr sz="1600" b="0" dirty="0">
                <a:latin typeface="Times New Roman"/>
              </a:rPr>
              <a:t>    •  FL + TLS: Channel encryption, but not quantum-safe, no computation-level privacy.</a:t>
            </a:r>
          </a:p>
          <a:p>
            <a:pPr marL="50800" indent="0" algn="l">
              <a:spcAft>
                <a:spcPts val="400"/>
              </a:spcAft>
              <a:buNone/>
            </a:pPr>
            <a:r>
              <a:rPr sz="1600" b="1" dirty="0">
                <a:latin typeface="Times New Roman"/>
              </a:rPr>
              <a:t>    •  This Project: Quantum-safe (PQC) + Encrypted aggregation (HE) + Statistical privacy (DP) + Visual dashboard + Attack simulation.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Times New Roman"/>
              </a:rPr>
              <a:t>Security Analysis</a:t>
            </a:r>
          </a:p>
        </p:txBody>
      </p:sp>
      <p:sp>
        <p:nvSpPr>
          <p:cNvPr id="3" name="Text Placeholder 2"/>
          <p:cNvSpPr>
            <a:spLocks noGrp="1"/>
          </p:cNvSpPr>
          <p:nvPr>
            <p:ph type="body" idx="1"/>
          </p:nvPr>
        </p:nvSpPr>
        <p:spPr>
          <a:xfrm>
            <a:off x="415600" y="1092899"/>
            <a:ext cx="11360700" cy="5273333"/>
          </a:xfrm>
        </p:spPr>
        <p:txBody>
          <a:bodyPr wrap="square"/>
          <a:lstStyle/>
          <a:p>
            <a:pPr marL="50800" indent="0" algn="l">
              <a:spcAft>
                <a:spcPts val="400"/>
              </a:spcAft>
              <a:buNone/>
            </a:pPr>
            <a:r>
              <a:rPr sz="1800" b="0" dirty="0">
                <a:latin typeface="Times New Roman"/>
              </a:rPr>
              <a:t>The system was tested against four types of simulated attacks:</a:t>
            </a:r>
          </a:p>
          <a:p>
            <a:pPr algn="l">
              <a:spcAft>
                <a:spcPts val="200"/>
              </a:spcAft>
            </a:pPr>
            <a:endParaRPr sz="1800" b="0" dirty="0">
              <a:latin typeface="Times New Roman"/>
            </a:endParaRPr>
          </a:p>
          <a:p>
            <a:pPr marL="50800" indent="0" algn="l">
              <a:spcAft>
                <a:spcPts val="400"/>
              </a:spcAft>
              <a:buNone/>
            </a:pPr>
            <a:r>
              <a:rPr sz="1800" b="1" dirty="0">
                <a:latin typeface="Times New Roman"/>
              </a:rPr>
              <a:t>1. Man-in-the-Middle (MITM) Attack:</a:t>
            </a:r>
          </a:p>
          <a:p>
            <a:pPr marL="50800" indent="0" algn="l">
              <a:spcAft>
                <a:spcPts val="400"/>
              </a:spcAft>
              <a:buNone/>
            </a:pPr>
            <a:r>
              <a:rPr sz="1600" b="0" dirty="0">
                <a:latin typeface="Times New Roman"/>
              </a:rPr>
              <a:t>    The system modifies one client's update to simulate tampered data injection. The server-side </a:t>
            </a:r>
            <a:r>
              <a:rPr sz="1600" b="0" dirty="0" err="1">
                <a:latin typeface="Times New Roman"/>
              </a:rPr>
              <a:t>Dilithium</a:t>
            </a:r>
            <a:r>
              <a:rPr sz="1600" b="0" dirty="0">
                <a:latin typeface="Times New Roman"/>
              </a:rPr>
              <a:t> signature verification immediately detects the mismatch. The server rejects the update, flags the client as compromised, and continues training with the remaining clients.</a:t>
            </a:r>
          </a:p>
          <a:p>
            <a:pPr algn="l">
              <a:spcAft>
                <a:spcPts val="200"/>
              </a:spcAft>
            </a:pPr>
            <a:endParaRPr sz="1600" b="0" dirty="0">
              <a:latin typeface="Times New Roman"/>
            </a:endParaRPr>
          </a:p>
          <a:p>
            <a:pPr marL="50800" indent="0" algn="l">
              <a:spcAft>
                <a:spcPts val="400"/>
              </a:spcAft>
              <a:buNone/>
            </a:pPr>
            <a:r>
              <a:rPr sz="1800" b="1" dirty="0">
                <a:latin typeface="Times New Roman"/>
              </a:rPr>
              <a:t>2. Quantum Attack Simulation:</a:t>
            </a:r>
          </a:p>
          <a:p>
            <a:pPr marL="50800" indent="0" algn="l">
              <a:spcAft>
                <a:spcPts val="400"/>
              </a:spcAft>
              <a:buNone/>
            </a:pPr>
            <a:r>
              <a:rPr sz="1600" b="0" dirty="0">
                <a:latin typeface="Times New Roman"/>
              </a:rPr>
              <a:t>    Simulates an attacker attempting to crack session keys. Since Kyber is lattice-based and not vulnerable to Shor's algorithm, the system detects the threat and automatically triggers key rotation. New Kyber key pairs are generated and the session is re-established.</a:t>
            </a:r>
          </a:p>
          <a:p>
            <a:pPr algn="l">
              <a:spcAft>
                <a:spcPts val="200"/>
              </a:spcAft>
            </a:pPr>
            <a:endParaRPr sz="1600" b="0" dirty="0">
              <a:latin typeface="Times New Roman"/>
            </a:endParaRPr>
          </a:p>
          <a:p>
            <a:pPr marL="50800" indent="0" algn="l">
              <a:spcAft>
                <a:spcPts val="400"/>
              </a:spcAft>
              <a:buNone/>
            </a:pPr>
            <a:r>
              <a:rPr sz="1800" b="1" dirty="0">
                <a:latin typeface="Times New Roman"/>
              </a:rPr>
              <a:t>3. Gradient Inversion Attack:</a:t>
            </a:r>
          </a:p>
          <a:p>
            <a:pPr marL="50800" indent="0" algn="l">
              <a:spcAft>
                <a:spcPts val="400"/>
              </a:spcAft>
              <a:buNone/>
            </a:pPr>
            <a:r>
              <a:rPr sz="1600" b="0" dirty="0">
                <a:latin typeface="Times New Roman"/>
              </a:rPr>
              <a:t>    The DP noise layer prevents reconstruction of original training data from weight updates. Even if an attacker obtains decrypted weights, the Gaussian noise makes accurate reconstruction infeasible.</a:t>
            </a:r>
          </a:p>
          <a:p>
            <a:pPr algn="l">
              <a:spcAft>
                <a:spcPts val="200"/>
              </a:spcAft>
            </a:pPr>
            <a:endParaRPr sz="1600" b="0" dirty="0">
              <a:latin typeface="Times New Roman"/>
            </a:endParaRPr>
          </a:p>
          <a:p>
            <a:pPr marL="50800" indent="0" algn="l">
              <a:spcAft>
                <a:spcPts val="400"/>
              </a:spcAft>
              <a:buNone/>
            </a:pPr>
            <a:r>
              <a:rPr sz="1800" b="1" dirty="0">
                <a:latin typeface="Times New Roman"/>
              </a:rPr>
              <a:t>4. Curious Server:</a:t>
            </a:r>
          </a:p>
          <a:p>
            <a:pPr marL="50800" indent="0" algn="l">
              <a:spcAft>
                <a:spcPts val="400"/>
              </a:spcAft>
              <a:buNone/>
            </a:pPr>
            <a:r>
              <a:rPr sz="1600" b="0" dirty="0">
                <a:latin typeface="Times New Roman"/>
              </a:rPr>
              <a:t>    The </a:t>
            </a:r>
            <a:r>
              <a:rPr sz="1600" b="0" dirty="0" err="1">
                <a:latin typeface="Times New Roman"/>
              </a:rPr>
              <a:t>Paillier</a:t>
            </a:r>
            <a:r>
              <a:rPr sz="1600" b="0" dirty="0">
                <a:latin typeface="Times New Roman"/>
              </a:rPr>
              <a:t> HE layer ensures the server only ever sees encrypted weight values. The server performs aggregation using homomorphic properties without</a:t>
            </a:r>
            <a:r>
              <a:rPr lang="en-US" sz="1600" b="0" dirty="0">
                <a:latin typeface="Times New Roman"/>
              </a:rPr>
              <a:t> </a:t>
            </a:r>
            <a:r>
              <a:rPr sz="1600" b="0" dirty="0">
                <a:latin typeface="Times New Roman"/>
              </a:rPr>
              <a:t>accessing any individual client's plaintext data.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a:rPr>
              <a:t>Discussion</a:t>
            </a:r>
          </a:p>
        </p:txBody>
      </p:sp>
      <p:sp>
        <p:nvSpPr>
          <p:cNvPr id="3" name="Text Placeholder 2"/>
          <p:cNvSpPr>
            <a:spLocks noGrp="1"/>
          </p:cNvSpPr>
          <p:nvPr>
            <p:ph type="body" idx="1"/>
          </p:nvPr>
        </p:nvSpPr>
        <p:spPr>
          <a:xfrm>
            <a:off x="415600" y="1092900"/>
            <a:ext cx="11360700" cy="5147644"/>
          </a:xfrm>
        </p:spPr>
        <p:txBody>
          <a:bodyPr wrap="square"/>
          <a:lstStyle/>
          <a:p>
            <a:pPr>
              <a:spcAft>
                <a:spcPts val="400"/>
              </a:spcAft>
              <a:buFont typeface="Arial" panose="020B0604020202020204" pitchFamily="34" charset="0"/>
              <a:buChar char="•"/>
            </a:pPr>
            <a:r>
              <a:rPr sz="1800" b="0" dirty="0">
                <a:latin typeface="Times New Roman"/>
              </a:rPr>
              <a:t>Stacking all three security layers did not significantly affect the model's learning ability. The final accuracy of 74% is only about 4 percentage points below what a regular </a:t>
            </a:r>
            <a:r>
              <a:rPr sz="1800" b="0" dirty="0" err="1">
                <a:latin typeface="Times New Roman"/>
              </a:rPr>
              <a:t>centralised</a:t>
            </a:r>
            <a:r>
              <a:rPr sz="1800" b="0" dirty="0">
                <a:latin typeface="Times New Roman"/>
              </a:rPr>
              <a:t> logistic regression model achieves on this dataset (~78%). This is a reasonable trade-off given the level of protection provided.</a:t>
            </a:r>
          </a:p>
          <a:p>
            <a:pPr algn="l">
              <a:spcAft>
                <a:spcPts val="200"/>
              </a:spcAft>
            </a:pPr>
            <a:endParaRPr sz="1800" b="0" dirty="0">
              <a:latin typeface="Times New Roman"/>
            </a:endParaRPr>
          </a:p>
          <a:p>
            <a:pPr algn="l">
              <a:spcAft>
                <a:spcPts val="400"/>
              </a:spcAft>
              <a:buFont typeface="Arial" panose="020B0604020202020204" pitchFamily="34" charset="0"/>
              <a:buChar char="•"/>
            </a:pPr>
            <a:r>
              <a:rPr sz="1800" b="0" dirty="0">
                <a:latin typeface="Times New Roman"/>
              </a:rPr>
              <a:t>The main processing bottleneck turned out to be </a:t>
            </a:r>
            <a:r>
              <a:rPr sz="1800" b="0" dirty="0" err="1">
                <a:latin typeface="Times New Roman"/>
              </a:rPr>
              <a:t>Paillier</a:t>
            </a:r>
            <a:r>
              <a:rPr sz="1800" b="0" dirty="0">
                <a:latin typeface="Times New Roman"/>
              </a:rPr>
              <a:t> encryption. Generating the 2048-bit keys at startup takes 15–30 seconds, and every weight value needs to be encrypted individually. However, this is a one-time startup cost and does not compound across rounds.</a:t>
            </a:r>
          </a:p>
          <a:p>
            <a:pPr algn="l">
              <a:spcAft>
                <a:spcPts val="200"/>
              </a:spcAft>
            </a:pPr>
            <a:endParaRPr sz="1800" b="0" dirty="0">
              <a:latin typeface="Times New Roman"/>
            </a:endParaRPr>
          </a:p>
          <a:p>
            <a:pPr>
              <a:spcAft>
                <a:spcPts val="400"/>
              </a:spcAft>
              <a:buFont typeface="Arial" panose="020B0604020202020204" pitchFamily="34" charset="0"/>
              <a:buChar char="•"/>
            </a:pPr>
            <a:r>
              <a:rPr sz="1800" b="0" dirty="0">
                <a:latin typeface="Times New Roman"/>
              </a:rPr>
              <a:t>Kyber and </a:t>
            </a:r>
            <a:r>
              <a:rPr sz="1800" b="0" dirty="0" err="1">
                <a:latin typeface="Times New Roman"/>
              </a:rPr>
              <a:t>Dilithium</a:t>
            </a:r>
            <a:r>
              <a:rPr sz="1800" b="0" dirty="0">
                <a:latin typeface="Times New Roman"/>
              </a:rPr>
              <a:t> were surprisingly fast. Both operations finish in under 5 milliseconds, adding essentially no overhead compared to the training and encryption steps.</a:t>
            </a:r>
          </a:p>
          <a:p>
            <a:pPr algn="l">
              <a:spcAft>
                <a:spcPts val="200"/>
              </a:spcAft>
            </a:pPr>
            <a:endParaRPr sz="1800" b="0" dirty="0">
              <a:latin typeface="Times New Roman"/>
            </a:endParaRPr>
          </a:p>
          <a:p>
            <a:pPr algn="l">
              <a:spcAft>
                <a:spcPts val="400"/>
              </a:spcAft>
              <a:buFont typeface="Arial" panose="020B0604020202020204" pitchFamily="34" charset="0"/>
              <a:buChar char="•"/>
            </a:pPr>
            <a:r>
              <a:rPr sz="1800" b="0" dirty="0">
                <a:latin typeface="Times New Roman"/>
              </a:rPr>
              <a:t>The DP epsilon parameter was kept at 10.0 for the experiments, which is on the more lenient side. Lowering it would strengthen privacy but increase accuracy variance. For a proof-of-concept, 10.0 provided a reasonable balance.</a:t>
            </a:r>
          </a:p>
          <a:p>
            <a:pPr algn="l">
              <a:spcAft>
                <a:spcPts val="200"/>
              </a:spcAft>
            </a:pPr>
            <a:endParaRPr sz="1800" b="0" dirty="0">
              <a:latin typeface="Times New Roman"/>
            </a:endParaRPr>
          </a:p>
          <a:p>
            <a:pPr algn="l">
              <a:spcAft>
                <a:spcPts val="400"/>
              </a:spcAft>
              <a:buFont typeface="Arial" panose="020B0604020202020204" pitchFamily="34" charset="0"/>
              <a:buChar char="•"/>
            </a:pPr>
            <a:r>
              <a:rPr sz="1800" b="0" dirty="0">
                <a:latin typeface="Times New Roman"/>
              </a:rPr>
              <a:t>Accuracy tends to fluctuate in the middle rounds (4–8) before </a:t>
            </a:r>
            <a:r>
              <a:rPr sz="1800" b="0" dirty="0" err="1">
                <a:latin typeface="Times New Roman"/>
              </a:rPr>
              <a:t>stabilising</a:t>
            </a:r>
            <a:r>
              <a:rPr sz="1800" b="0" dirty="0">
                <a:latin typeface="Times New Roman"/>
              </a:rPr>
              <a:t>. This is because DP noise has a bigger relative effect during early learning, and its impact smooths out as the weights converge.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Times New Roman"/>
              </a:rPr>
              <a:t>Conclusion &amp; Future Work</a:t>
            </a:r>
          </a:p>
        </p:txBody>
      </p:sp>
      <p:sp>
        <p:nvSpPr>
          <p:cNvPr id="3" name="Text Placeholder 2"/>
          <p:cNvSpPr>
            <a:spLocks noGrp="1"/>
          </p:cNvSpPr>
          <p:nvPr>
            <p:ph type="body" idx="1"/>
          </p:nvPr>
        </p:nvSpPr>
        <p:spPr>
          <a:xfrm>
            <a:off x="415600" y="1255267"/>
            <a:ext cx="11360700" cy="4672200"/>
          </a:xfrm>
        </p:spPr>
        <p:txBody>
          <a:bodyPr wrap="square"/>
          <a:lstStyle/>
          <a:p>
            <a:pPr marL="50800" indent="0" algn="l">
              <a:spcAft>
                <a:spcPts val="400"/>
              </a:spcAft>
              <a:buNone/>
            </a:pPr>
            <a:r>
              <a:rPr sz="1800" b="1" dirty="0">
                <a:latin typeface="Times New Roman"/>
              </a:rPr>
              <a:t>Conclusions:</a:t>
            </a:r>
          </a:p>
          <a:p>
            <a:pPr marL="50800" indent="0" algn="l">
              <a:spcAft>
                <a:spcPts val="400"/>
              </a:spcAft>
              <a:buNone/>
            </a:pPr>
            <a:r>
              <a:rPr sz="1600" b="0" dirty="0">
                <a:latin typeface="Times New Roman"/>
              </a:rPr>
              <a:t>    •  Successfully built and tested a federated learning system integrating three security layers: PQC (Kyber + </a:t>
            </a:r>
            <a:r>
              <a:rPr sz="1600" b="0" dirty="0" err="1">
                <a:latin typeface="Times New Roman"/>
              </a:rPr>
              <a:t>Dilithium</a:t>
            </a:r>
            <a:r>
              <a:rPr sz="1600" b="0" dirty="0">
                <a:latin typeface="Times New Roman"/>
              </a:rPr>
              <a:t>), HE (</a:t>
            </a:r>
            <a:r>
              <a:rPr sz="1600" b="0" dirty="0" err="1">
                <a:latin typeface="Times New Roman"/>
              </a:rPr>
              <a:t>Paillier</a:t>
            </a:r>
            <a:r>
              <a:rPr sz="1600" b="0" dirty="0">
                <a:latin typeface="Times New Roman"/>
              </a:rPr>
              <a:t>), and DP (Gaussian mechanism).</a:t>
            </a:r>
          </a:p>
          <a:p>
            <a:pPr marL="50800" indent="0" algn="l">
              <a:spcAft>
                <a:spcPts val="400"/>
              </a:spcAft>
              <a:buNone/>
            </a:pPr>
            <a:r>
              <a:rPr lang="en-GB" sz="1600" dirty="0">
                <a:latin typeface="Times New Roman"/>
              </a:rPr>
              <a:t> </a:t>
            </a:r>
            <a:r>
              <a:rPr sz="1600" b="0" dirty="0">
                <a:latin typeface="Times New Roman"/>
              </a:rPr>
              <a:t>   •  Achieved 74.16% accuracy on the UCI Adult Income dataset, only ~4% below a non-private </a:t>
            </a:r>
            <a:r>
              <a:rPr sz="1600" b="0" dirty="0" err="1">
                <a:latin typeface="Times New Roman"/>
              </a:rPr>
              <a:t>centralised</a:t>
            </a:r>
            <a:r>
              <a:rPr sz="1600" b="0" dirty="0">
                <a:latin typeface="Times New Roman"/>
              </a:rPr>
              <a:t> setup.</a:t>
            </a:r>
          </a:p>
          <a:p>
            <a:pPr marL="50800" indent="0" algn="l">
              <a:spcAft>
                <a:spcPts val="400"/>
              </a:spcAft>
              <a:buNone/>
            </a:pPr>
            <a:r>
              <a:rPr sz="1600" b="0" dirty="0">
                <a:latin typeface="Times New Roman"/>
              </a:rPr>
              <a:t>    •  PQC operations add negligible latency (&lt;5ms), making them practical for real-time use.</a:t>
            </a:r>
          </a:p>
          <a:p>
            <a:pPr marL="50800" indent="0" algn="l">
              <a:spcAft>
                <a:spcPts val="400"/>
              </a:spcAft>
              <a:buNone/>
            </a:pPr>
            <a:r>
              <a:rPr sz="1600" b="0" dirty="0">
                <a:latin typeface="Times New Roman"/>
              </a:rPr>
              <a:t>    •  Both MITM and quantum attacks are detected and handled automatically with signature verification and key rotation.</a:t>
            </a:r>
          </a:p>
          <a:p>
            <a:pPr marL="50800" indent="0" algn="l">
              <a:spcAft>
                <a:spcPts val="400"/>
              </a:spcAft>
              <a:buNone/>
            </a:pPr>
            <a:r>
              <a:rPr sz="1600" b="0" dirty="0">
                <a:latin typeface="Times New Roman"/>
              </a:rPr>
              <a:t>    •  The DP layer provides mathematical guarantees against gradient inversion even if all encryption is broken.</a:t>
            </a:r>
          </a:p>
          <a:p>
            <a:pPr marL="50800" indent="0" algn="l">
              <a:spcAft>
                <a:spcPts val="400"/>
              </a:spcAft>
              <a:buNone/>
            </a:pPr>
            <a:r>
              <a:rPr sz="1600" b="0" dirty="0">
                <a:latin typeface="Times New Roman"/>
              </a:rPr>
              <a:t>    •  The Cyber-SOC Dashboard ties the entire system together visually for monitoring and demonstration.</a:t>
            </a:r>
          </a:p>
          <a:p>
            <a:pPr algn="l">
              <a:spcAft>
                <a:spcPts val="200"/>
              </a:spcAft>
            </a:pPr>
            <a:endParaRPr sz="1600" b="0" dirty="0">
              <a:latin typeface="Times New Roman"/>
            </a:endParaRPr>
          </a:p>
          <a:p>
            <a:pPr marL="50800" indent="0" algn="l">
              <a:spcAft>
                <a:spcPts val="400"/>
              </a:spcAft>
              <a:buNone/>
            </a:pPr>
            <a:r>
              <a:rPr sz="1800" b="1" dirty="0">
                <a:latin typeface="Times New Roman"/>
              </a:rPr>
              <a:t>Future Work:</a:t>
            </a:r>
          </a:p>
          <a:p>
            <a:pPr marL="50800" indent="0" algn="l">
              <a:spcAft>
                <a:spcPts val="400"/>
              </a:spcAft>
              <a:buNone/>
            </a:pPr>
            <a:r>
              <a:rPr sz="1600" b="0" dirty="0">
                <a:latin typeface="Times New Roman"/>
              </a:rPr>
              <a:t>    •  Support deeper models such as CNNs and Transformers instead of logistic regression.</a:t>
            </a:r>
          </a:p>
          <a:p>
            <a:pPr marL="50800" indent="0" algn="l">
              <a:spcAft>
                <a:spcPts val="400"/>
              </a:spcAft>
              <a:buNone/>
            </a:pPr>
            <a:r>
              <a:rPr sz="1600" b="0" dirty="0">
                <a:latin typeface="Times New Roman"/>
              </a:rPr>
              <a:t>    •  Test with non-IID (non-identically distributed) data across clients.</a:t>
            </a:r>
          </a:p>
          <a:p>
            <a:pPr marL="50800" indent="0" algn="l">
              <a:spcAft>
                <a:spcPts val="400"/>
              </a:spcAft>
              <a:buNone/>
            </a:pPr>
            <a:r>
              <a:rPr sz="1600" b="0" dirty="0">
                <a:latin typeface="Times New Roman"/>
              </a:rPr>
              <a:t>    •  Replace </a:t>
            </a:r>
            <a:r>
              <a:rPr sz="1600" b="0" dirty="0" err="1">
                <a:latin typeface="Times New Roman"/>
              </a:rPr>
              <a:t>Paillier</a:t>
            </a:r>
            <a:r>
              <a:rPr sz="1600" b="0" dirty="0">
                <a:latin typeface="Times New Roman"/>
              </a:rPr>
              <a:t> with CKKS or BFV for faster homomorphic operations on larger models.</a:t>
            </a:r>
          </a:p>
          <a:p>
            <a:pPr marL="50800" indent="0" algn="l">
              <a:spcAft>
                <a:spcPts val="400"/>
              </a:spcAft>
              <a:buNone/>
            </a:pPr>
            <a:r>
              <a:rPr sz="1600" b="0" dirty="0">
                <a:latin typeface="Times New Roman"/>
              </a:rPr>
              <a:t>    •  </a:t>
            </a:r>
            <a:r>
              <a:rPr sz="1600" b="0" dirty="0" err="1">
                <a:latin typeface="Times New Roman"/>
              </a:rPr>
              <a:t>Containerise</a:t>
            </a:r>
            <a:r>
              <a:rPr sz="1600" b="0" dirty="0">
                <a:latin typeface="Times New Roman"/>
              </a:rPr>
              <a:t> the system with Docker for cloud deployment.</a:t>
            </a:r>
          </a:p>
          <a:p>
            <a:pPr marL="50800" indent="0" algn="l">
              <a:spcAft>
                <a:spcPts val="400"/>
              </a:spcAft>
              <a:buNone/>
            </a:pPr>
            <a:r>
              <a:rPr sz="1600" b="0" dirty="0">
                <a:latin typeface="Times New Roman"/>
              </a:rPr>
              <a:t>    •  Add support for client dropout and dynamic joining.</a:t>
            </a:r>
          </a:p>
          <a:p>
            <a:pPr marL="50800" indent="0" algn="l">
              <a:spcAft>
                <a:spcPts val="400"/>
              </a:spcAft>
              <a:buNone/>
            </a:pPr>
            <a:r>
              <a:rPr sz="1600" b="0" dirty="0">
                <a:latin typeface="Times New Roman"/>
              </a:rPr>
              <a:t>    •  Implement formal privacy accounting using Rényi DP for tighter privacy bounds.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Times New Roman"/>
              </a:rPr>
              <a:t>References</a:t>
            </a:r>
          </a:p>
        </p:txBody>
      </p:sp>
      <p:sp>
        <p:nvSpPr>
          <p:cNvPr id="3" name="Text Placeholder 2"/>
          <p:cNvSpPr>
            <a:spLocks noGrp="1"/>
          </p:cNvSpPr>
          <p:nvPr>
            <p:ph type="body" idx="1"/>
          </p:nvPr>
        </p:nvSpPr>
        <p:spPr/>
        <p:txBody>
          <a:bodyPr wrap="square"/>
          <a:lstStyle/>
          <a:p>
            <a:pPr marL="50800" indent="0" algn="l">
              <a:spcAft>
                <a:spcPts val="400"/>
              </a:spcAft>
              <a:buNone/>
            </a:pPr>
            <a:r>
              <a:rPr sz="1600" b="0" dirty="0">
                <a:latin typeface="Times New Roman"/>
              </a:rPr>
              <a:t>[1]  McMahan et al., "Communication-Efficient Learning of Deep Networks from Decentralized Data," AISTATS, 2017.</a:t>
            </a:r>
          </a:p>
          <a:p>
            <a:pPr algn="l">
              <a:spcAft>
                <a:spcPts val="200"/>
              </a:spcAft>
            </a:pPr>
            <a:endParaRPr sz="1600" b="0" dirty="0">
              <a:latin typeface="Times New Roman"/>
            </a:endParaRPr>
          </a:p>
          <a:p>
            <a:pPr marL="50800" indent="0" algn="l">
              <a:spcAft>
                <a:spcPts val="400"/>
              </a:spcAft>
              <a:buNone/>
            </a:pPr>
            <a:r>
              <a:rPr sz="1600" b="0" dirty="0">
                <a:latin typeface="Times New Roman"/>
              </a:rPr>
              <a:t>[2]  Bonawitz et al., "Practical Secure Aggregation for Privacy-Preserving ML," ACM CCS, 2017.</a:t>
            </a:r>
          </a:p>
          <a:p>
            <a:pPr algn="l">
              <a:spcAft>
                <a:spcPts val="200"/>
              </a:spcAft>
            </a:pPr>
            <a:endParaRPr sz="1600" b="0" dirty="0">
              <a:latin typeface="Times New Roman"/>
            </a:endParaRPr>
          </a:p>
          <a:p>
            <a:pPr marL="50800" indent="0" algn="l">
              <a:spcAft>
                <a:spcPts val="400"/>
              </a:spcAft>
              <a:buNone/>
            </a:pPr>
            <a:r>
              <a:rPr sz="1600" b="0" dirty="0">
                <a:latin typeface="Times New Roman"/>
              </a:rPr>
              <a:t>[3]  Abadi et al., "Deep Learning with Differential Privacy," ACM CCS, 2016.</a:t>
            </a:r>
          </a:p>
          <a:p>
            <a:pPr algn="l">
              <a:spcAft>
                <a:spcPts val="200"/>
              </a:spcAft>
            </a:pPr>
            <a:endParaRPr sz="1600" b="0" dirty="0">
              <a:latin typeface="Times New Roman"/>
            </a:endParaRPr>
          </a:p>
          <a:p>
            <a:pPr marL="50800" indent="0" algn="l">
              <a:spcAft>
                <a:spcPts val="400"/>
              </a:spcAft>
              <a:buNone/>
            </a:pPr>
            <a:r>
              <a:rPr sz="1600" b="0" dirty="0">
                <a:latin typeface="Times New Roman"/>
              </a:rPr>
              <a:t>[4]  Li et al., "Federated Learning: Challenges, Methods, and Future Directions," IEEE Signal Processing Magazine, 2020.</a:t>
            </a:r>
          </a:p>
          <a:p>
            <a:pPr algn="l">
              <a:spcAft>
                <a:spcPts val="200"/>
              </a:spcAft>
            </a:pPr>
            <a:endParaRPr sz="1600" b="0" dirty="0">
              <a:latin typeface="Times New Roman"/>
            </a:endParaRPr>
          </a:p>
          <a:p>
            <a:pPr marL="50800" indent="0" algn="l">
              <a:spcAft>
                <a:spcPts val="400"/>
              </a:spcAft>
              <a:buNone/>
            </a:pPr>
            <a:r>
              <a:rPr sz="1600" b="0" dirty="0">
                <a:latin typeface="Times New Roman"/>
              </a:rPr>
              <a:t>[5]  Shor, "Polynomial-Time Algorithms for Prime Factorization and Discrete Logarithms on a Quantum Computer," SIAM Journal on Computing, 1997.</a:t>
            </a:r>
          </a:p>
          <a:p>
            <a:pPr algn="l">
              <a:spcAft>
                <a:spcPts val="200"/>
              </a:spcAft>
            </a:pPr>
            <a:endParaRPr sz="1600" b="0" dirty="0">
              <a:latin typeface="Times New Roman"/>
            </a:endParaRPr>
          </a:p>
          <a:p>
            <a:pPr marL="50800" indent="0" algn="l">
              <a:spcAft>
                <a:spcPts val="400"/>
              </a:spcAft>
              <a:buNone/>
            </a:pPr>
            <a:r>
              <a:rPr sz="1600" b="0" dirty="0">
                <a:latin typeface="Times New Roman"/>
              </a:rPr>
              <a:t>[6]  Zhu et al., "Deep Leakage from Gradients," </a:t>
            </a:r>
            <a:r>
              <a:rPr sz="1600" b="0" dirty="0" err="1">
                <a:latin typeface="Times New Roman"/>
              </a:rPr>
              <a:t>NeurIPS</a:t>
            </a:r>
            <a:r>
              <a:rPr sz="1600" b="0" dirty="0">
                <a:latin typeface="Times New Roman"/>
              </a:rPr>
              <a:t>, 2019.</a:t>
            </a:r>
          </a:p>
          <a:p>
            <a:pPr algn="l">
              <a:spcAft>
                <a:spcPts val="200"/>
              </a:spcAft>
            </a:pPr>
            <a:endParaRPr sz="1600" b="0" dirty="0">
              <a:latin typeface="Times New Roman"/>
            </a:endParaRPr>
          </a:p>
          <a:p>
            <a:pPr marL="50800" indent="0" algn="l">
              <a:spcAft>
                <a:spcPts val="400"/>
              </a:spcAft>
              <a:buNone/>
            </a:pPr>
            <a:r>
              <a:rPr sz="1600" b="0" dirty="0">
                <a:latin typeface="Times New Roman"/>
              </a:rPr>
              <a:t>[7]  NIST FIPS 203, "Module-Lattice-Based Key-Encapsulation Mechanism Standard," 2024.</a:t>
            </a:r>
          </a:p>
          <a:p>
            <a:pPr algn="l">
              <a:spcAft>
                <a:spcPts val="200"/>
              </a:spcAft>
            </a:pPr>
            <a:endParaRPr sz="1600" b="0" dirty="0">
              <a:latin typeface="Times New Roman"/>
            </a:endParaRPr>
          </a:p>
          <a:p>
            <a:pPr marL="50800" indent="0" algn="l">
              <a:spcAft>
                <a:spcPts val="400"/>
              </a:spcAft>
              <a:buNone/>
            </a:pPr>
            <a:r>
              <a:rPr sz="1600" b="0" dirty="0">
                <a:latin typeface="Times New Roman"/>
              </a:rPr>
              <a:t>[8]  NIST FIPS 204, "Module-Lattice-Based Digital Signature Standard," 2024.</a:t>
            </a:r>
          </a:p>
          <a:p>
            <a:pPr algn="l">
              <a:spcAft>
                <a:spcPts val="200"/>
              </a:spcAft>
            </a:pPr>
            <a:endParaRPr sz="1600" b="0" dirty="0">
              <a:latin typeface="Times New Roma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TotalTime>
  <Words>3466</Words>
  <Application>Microsoft Office PowerPoint</Application>
  <PresentationFormat>Widescreen</PresentationFormat>
  <Paragraphs>232</Paragraphs>
  <Slides>17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IBM Plex Sans Condensed</vt:lpstr>
      <vt:lpstr>Georgia</vt:lpstr>
      <vt:lpstr>Times New Roman</vt:lpstr>
      <vt:lpstr>Archivo Narrow Medium</vt:lpstr>
      <vt:lpstr>Calibri</vt:lpstr>
      <vt:lpstr>Arial</vt:lpstr>
      <vt:lpstr>Archivo Narrow</vt:lpstr>
      <vt:lpstr>Yellowtail</vt:lpstr>
      <vt:lpstr>Simple Light</vt:lpstr>
      <vt:lpstr>Quantum-Safe Hybrid Privacy-Preserving Federated Learning</vt:lpstr>
      <vt:lpstr>Abstract</vt:lpstr>
      <vt:lpstr>Introduction</vt:lpstr>
      <vt:lpstr>Introduction (Contd.)</vt:lpstr>
      <vt:lpstr>Literature Review</vt:lpstr>
      <vt:lpstr>Gap Identification &amp; Problem Statement</vt:lpstr>
      <vt:lpstr>Objectives</vt:lpstr>
      <vt:lpstr>Methodology – Dataset &amp; Configuration</vt:lpstr>
      <vt:lpstr>Methodology – Training Pipeline</vt:lpstr>
      <vt:lpstr>Implementation – Backend</vt:lpstr>
      <vt:lpstr>Implementation – Frontend &amp; API</vt:lpstr>
      <vt:lpstr>Results – Training Accuracy</vt:lpstr>
      <vt:lpstr>Results – Performance &amp; Comparison</vt:lpstr>
      <vt:lpstr>Security Analysis</vt:lpstr>
      <vt:lpstr>Discussion</vt:lpstr>
      <vt:lpstr>Conclusion &amp; Future Work</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Samuel Joseph</cp:lastModifiedBy>
  <cp:revision>35</cp:revision>
  <dcterms:modified xsi:type="dcterms:W3CDTF">2026-03-12T06:15:59Z</dcterms:modified>
</cp:coreProperties>
</file>