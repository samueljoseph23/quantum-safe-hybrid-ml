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Archivo Narrow" panose="020B0604020202020204" charset="0"/>
      <p:regular r:id="rId5"/>
      <p:bold r:id="rId6"/>
      <p:italic r:id="rId7"/>
      <p:boldItalic r:id="rId8"/>
    </p:embeddedFont>
    <p:embeddedFont>
      <p:font typeface="Archivo Narrow Medium" panose="020B0604020202020204" charset="0"/>
      <p:regular r:id="rId9"/>
      <p:bold r:id="rId10"/>
      <p:italic r:id="rId11"/>
      <p:boldItalic r:id="rId12"/>
    </p:embeddedFon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IBM Plex Sans Condensed" panose="020B0506050203000203" pitchFamily="34" charset="0"/>
      <p:regular r:id="rId17"/>
      <p:bold r:id="rId18"/>
      <p:italic r:id="rId19"/>
      <p:boldItalic r:id="rId20"/>
    </p:embeddedFont>
    <p:embeddedFont>
      <p:font typeface="Yellowtail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17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theme" Target="theme/theme1.xml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viewProps" Target="viewProps.xml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0503800d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0503800d2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30503800d2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415600" y="1886797"/>
            <a:ext cx="11360700" cy="18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-9450" y="-30350"/>
            <a:ext cx="12209100" cy="7371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-9325" y="154075"/>
            <a:ext cx="12216600" cy="12825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0763550" y="-30350"/>
            <a:ext cx="868800" cy="1467000"/>
          </a:xfrm>
          <a:prstGeom prst="parallelogram">
            <a:avLst>
              <a:gd name="adj" fmla="val 57856"/>
            </a:avLst>
          </a:prstGeom>
          <a:solidFill>
            <a:srgbClr val="D2AE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714000" y="-30350"/>
            <a:ext cx="3841800" cy="1488900"/>
          </a:xfrm>
          <a:prstGeom prst="parallelogram">
            <a:avLst>
              <a:gd name="adj" fmla="val 3392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-9325" y="6604519"/>
            <a:ext cx="12216600" cy="2598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-9325" y="5899575"/>
            <a:ext cx="12216600" cy="737100"/>
          </a:xfrm>
          <a:prstGeom prst="roundRect">
            <a:avLst>
              <a:gd name="adj" fmla="val 1017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29" name="Google Shape;29;p2"/>
          <p:cNvSpPr txBox="1"/>
          <p:nvPr/>
        </p:nvSpPr>
        <p:spPr>
          <a:xfrm>
            <a:off x="381000" y="5899575"/>
            <a:ext cx="3810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Mission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Christ University is a nurturing ground for an individual’s holistic development to make effective contribution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to the society in a dynamic environment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4191000" y="5899575"/>
            <a:ext cx="3810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Vision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Excellence and Service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8572600" y="5899575"/>
            <a:ext cx="2983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GB" sz="1500" b="1" i="0" u="none" strike="noStrike" cap="none">
                <a:solidFill>
                  <a:srgbClr val="D2AE6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Core Values</a:t>
            </a:r>
            <a:endParaRPr sz="1500" b="1" i="0" u="none" strike="noStrike" cap="none">
              <a:solidFill>
                <a:srgbClr val="D2AE6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Faith in God |  Moral Uprightness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 Love of Fellow Beings |  Social Responsibility</a:t>
            </a:r>
            <a:b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</a:br>
            <a:r>
              <a:rPr lang="en-GB" sz="1200" b="0" i="0" u="none" strike="noStrike" cap="none">
                <a:solidFill>
                  <a:schemeClr val="lt1"/>
                </a:solidFill>
                <a:latin typeface="Archivo Narrow Medium"/>
                <a:ea typeface="Archivo Narrow Medium"/>
                <a:cs typeface="Archivo Narrow Medium"/>
                <a:sym typeface="Archivo Narrow Medium"/>
              </a:rPr>
              <a:t>Pursuit of Excellence</a:t>
            </a:r>
            <a:endParaRPr sz="1200" b="0" i="0" u="none" strike="noStrike" cap="none">
              <a:solidFill>
                <a:schemeClr val="lt1"/>
              </a:solidFill>
              <a:latin typeface="Archivo Narrow Medium"/>
              <a:ea typeface="Archivo Narrow Medium"/>
              <a:cs typeface="Archivo Narrow Medium"/>
              <a:sym typeface="Archivo Narrow Medium"/>
            </a:endParaRPr>
          </a:p>
        </p:txBody>
      </p:sp>
      <p:pic>
        <p:nvPicPr>
          <p:cNvPr id="32" name="Google Shape;32;p2" title="CU logo GBT_25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4061" y="329612"/>
            <a:ext cx="3118595" cy="10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IBM Plex Sans Condensed"/>
              <a:buNone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415600" y="1419388"/>
            <a:ext cx="11360700" cy="46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lvl="1" indent="-3937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L="2743200" lvl="5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L="3200400" lvl="6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●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L="3657600" lvl="7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Font typeface="IBM Plex Sans Condensed"/>
              <a:buChar char="○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L="4114800" lvl="8" indent="-3810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Font typeface="IBM Plex Sans Condensed"/>
              <a:buChar char="■"/>
              <a:defRPr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3"/>
          <p:cNvSpPr txBox="1"/>
          <p:nvPr/>
        </p:nvSpPr>
        <p:spPr>
          <a:xfrm>
            <a:off x="11585175" y="6515100"/>
            <a:ext cx="532800" cy="2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4156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2"/>
          </p:nvPr>
        </p:nvSpPr>
        <p:spPr>
          <a:xfrm>
            <a:off x="6443200" y="1536625"/>
            <a:ext cx="5333100" cy="4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92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6" name="Google Shape;46;p5"/>
          <p:cNvSpPr/>
          <p:nvPr/>
        </p:nvSpPr>
        <p:spPr>
          <a:xfrm rot="10800000">
            <a:off x="-2833" y="-25"/>
            <a:ext cx="122067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70782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6096000" y="272150"/>
            <a:ext cx="6096000" cy="613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415600" y="5773325"/>
            <a:ext cx="79983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406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937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91079" y="725951"/>
            <a:ext cx="10325100" cy="14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>
            <a:off x="691079" y="2340131"/>
            <a:ext cx="10325100" cy="3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4325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350"/>
              <a:buChar char="▪"/>
              <a:defRPr/>
            </a:lvl1pPr>
            <a:lvl2pPr marL="914400" lvl="1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2pPr>
            <a:lvl3pPr marL="1371600" lvl="2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3pPr>
            <a:lvl4pPr marL="1828800" lvl="3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14325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11003649" y="6215870"/>
            <a:ext cx="979200" cy="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15600" y="5171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IBM Plex Sans Condensed"/>
              <a:buNone/>
              <a:defRPr sz="32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15600" y="1356875"/>
            <a:ext cx="11360700" cy="47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BM Plex Sans Condensed"/>
              <a:buChar char="●"/>
              <a:defRPr sz="28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marR="0" lvl="1" indent="-393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IBM Plex Sans Condensed"/>
              <a:buChar char="○"/>
              <a:defRPr sz="26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●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chivo Narrow"/>
              <a:buChar char="○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chivo Narrow"/>
              <a:buChar char="■"/>
              <a:defRPr sz="24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-9719"/>
            <a:ext cx="12192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6615550"/>
            <a:ext cx="12192000" cy="261900"/>
          </a:xfrm>
          <a:prstGeom prst="rect">
            <a:avLst/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50" y="6387300"/>
            <a:ext cx="12192000" cy="353400"/>
          </a:xfrm>
          <a:prstGeom prst="roundRect">
            <a:avLst>
              <a:gd name="adj" fmla="val 16667"/>
            </a:avLst>
          </a:prstGeom>
          <a:solidFill>
            <a:srgbClr val="0C5394"/>
          </a:solidFill>
          <a:ln w="9525" cap="flat" cmpd="sng">
            <a:solidFill>
              <a:srgbClr val="0C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IBM Plex Sans Condensed"/>
              <a:ea typeface="IBM Plex Sans Condensed"/>
              <a:cs typeface="IBM Plex Sans Condensed"/>
              <a:sym typeface="IBM Plex Sans Condensed"/>
            </a:endParaRPr>
          </a:p>
        </p:txBody>
      </p:sp>
      <p:sp>
        <p:nvSpPr>
          <p:cNvPr id="15" name="Google Shape;15;p1"/>
          <p:cNvSpPr txBox="1"/>
          <p:nvPr/>
        </p:nvSpPr>
        <p:spPr>
          <a:xfrm rot="-462626">
            <a:off x="8825224" y="6371287"/>
            <a:ext cx="1824597" cy="4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rgbClr val="D2AE6C"/>
                </a:solidFill>
                <a:latin typeface="Yellowtail"/>
                <a:ea typeface="Yellowtail"/>
                <a:cs typeface="Yellowtail"/>
                <a:sym typeface="Yellowtail"/>
              </a:rPr>
              <a:t>Excellence &amp; Service</a:t>
            </a:r>
            <a:endParaRPr sz="1600" b="0" i="0" u="none" strike="noStrike" cap="none">
              <a:solidFill>
                <a:srgbClr val="D2AE6C"/>
              </a:solidFill>
              <a:latin typeface="Yellowtail"/>
              <a:ea typeface="Yellowtail"/>
              <a:cs typeface="Yellowtail"/>
              <a:sym typeface="Yellowtail"/>
            </a:endParaRPr>
          </a:p>
        </p:txBody>
      </p:sp>
      <p:sp>
        <p:nvSpPr>
          <p:cNvPr id="16" name="Google Shape;16;p1"/>
          <p:cNvSpPr txBox="1"/>
          <p:nvPr/>
        </p:nvSpPr>
        <p:spPr>
          <a:xfrm rot="1419">
            <a:off x="6067858" y="6448425"/>
            <a:ext cx="290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rgbClr val="CCCCCC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CHRIST (Deemed to be University)</a:t>
            </a:r>
            <a:endParaRPr sz="1400" b="0" i="0" u="none" strike="noStrike" cap="none">
              <a:solidFill>
                <a:srgbClr val="CCCCCC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7" name="Google Shape;17;p1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8" name="Google Shape;18;p1" title="CU logo crest Gold.png"/>
          <p:cNvPicPr preferRelativeResize="0"/>
          <p:nvPr/>
        </p:nvPicPr>
        <p:blipFill>
          <a:blip r:embed="rId14">
            <a:alphaModFix amt="3000"/>
          </a:blip>
          <a:stretch>
            <a:fillRect/>
          </a:stretch>
        </p:blipFill>
        <p:spPr>
          <a:xfrm>
            <a:off x="8140250" y="2136400"/>
            <a:ext cx="3984660" cy="39688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308196" y="2087573"/>
            <a:ext cx="11360700" cy="85875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Project Title</a:t>
            </a:r>
            <a:endParaRPr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415600" y="4341051"/>
            <a:ext cx="4403535" cy="126273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/>
              <a:t>Students Name: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/>
              <a:t>Reg No: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dirty="0"/>
              <a:t>Class: </a:t>
            </a:r>
          </a:p>
        </p:txBody>
      </p:sp>
      <p:sp>
        <p:nvSpPr>
          <p:cNvPr id="2" name="Google Shape;82;p14">
            <a:extLst>
              <a:ext uri="{FF2B5EF4-FFF2-40B4-BE49-F238E27FC236}">
                <a16:creationId xmlns:a16="http://schemas.microsoft.com/office/drawing/2014/main" id="{679E51EF-5E78-847E-9FBD-5C25D6147739}"/>
              </a:ext>
            </a:extLst>
          </p:cNvPr>
          <p:cNvSpPr txBox="1">
            <a:spLocks/>
          </p:cNvSpPr>
          <p:nvPr/>
        </p:nvSpPr>
        <p:spPr>
          <a:xfrm>
            <a:off x="7265361" y="4341051"/>
            <a:ext cx="4403535" cy="126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IBM Plex Sans Condensed"/>
              <a:buNone/>
              <a:defRPr sz="36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L="914400" marR="0" lvl="1" indent="-3937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BM Plex Sans Condensed"/>
              <a:buNone/>
              <a:defRPr sz="3700" b="0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chivo Narrow"/>
              <a:buNone/>
              <a:defRPr sz="37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chivo Narrow"/>
              <a:buNone/>
              <a:defRPr sz="37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chivo Narrow"/>
              <a:buNone/>
              <a:defRPr sz="37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chivo Narrow"/>
              <a:buNone/>
              <a:defRPr sz="37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chivo Narrow"/>
              <a:buNone/>
              <a:defRPr sz="37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chivo Narrow"/>
              <a:buNone/>
              <a:defRPr sz="37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81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chivo Narrow"/>
              <a:buNone/>
              <a:defRPr sz="37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pPr marL="0" indent="0" algn="l"/>
            <a:r>
              <a:rPr lang="en-IN" sz="2400" b="1" dirty="0"/>
              <a:t>Guide Name:</a:t>
            </a:r>
          </a:p>
          <a:p>
            <a:pPr marL="0" indent="0" algn="l"/>
            <a:r>
              <a:rPr lang="en-IN" sz="2400" b="1" dirty="0"/>
              <a:t>Designation: </a:t>
            </a:r>
          </a:p>
          <a:p>
            <a:pPr marL="0" indent="0" algn="l"/>
            <a:r>
              <a:rPr lang="en-IN" sz="2400" b="1" dirty="0"/>
              <a:t>Dept: </a:t>
            </a:r>
          </a:p>
        </p:txBody>
      </p:sp>
      <p:sp>
        <p:nvSpPr>
          <p:cNvPr id="3" name="Google Shape;81;p14">
            <a:extLst>
              <a:ext uri="{FF2B5EF4-FFF2-40B4-BE49-F238E27FC236}">
                <a16:creationId xmlns:a16="http://schemas.microsoft.com/office/drawing/2014/main" id="{1C5779A2-3916-AFF7-3200-D3103B282FA9}"/>
              </a:ext>
            </a:extLst>
          </p:cNvPr>
          <p:cNvSpPr txBox="1">
            <a:spLocks/>
          </p:cNvSpPr>
          <p:nvPr/>
        </p:nvSpPr>
        <p:spPr>
          <a:xfrm>
            <a:off x="925200" y="67275"/>
            <a:ext cx="6340162" cy="85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IBM Plex Sans Condensed"/>
              <a:buNone/>
              <a:defRPr sz="48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IBM Plex Sans Condensed"/>
              <a:buNone/>
              <a:defRPr sz="48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IBM Plex Sans Condensed"/>
              <a:buNone/>
              <a:defRPr sz="48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IBM Plex Sans Condensed"/>
              <a:buNone/>
              <a:defRPr sz="48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IBM Plex Sans Condensed"/>
              <a:buNone/>
              <a:defRPr sz="48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IBM Plex Sans Condensed"/>
              <a:buNone/>
              <a:defRPr sz="48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IBM Plex Sans Condensed"/>
              <a:buNone/>
              <a:defRPr sz="48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IBM Plex Sans Condensed"/>
              <a:buNone/>
              <a:defRPr sz="48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IBM Plex Sans Condensed"/>
              <a:buNone/>
              <a:defRPr sz="4800" b="1" i="0" u="none" strike="noStrike" cap="none">
                <a:solidFill>
                  <a:srgbClr val="000000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</a:defRPr>
            </a:lvl9pPr>
          </a:lstStyle>
          <a:p>
            <a:r>
              <a:rPr lang="en-IN" sz="2000" b="0" dirty="0">
                <a:solidFill>
                  <a:schemeClr val="bg1"/>
                </a:solidFill>
              </a:rPr>
              <a:t>Honours in Cyber Security Project  - CSHO681CSP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415600" y="4917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PPT Contents</a:t>
            </a:r>
            <a:endParaRPr dirty="0"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415600" y="1255267"/>
            <a:ext cx="11360700" cy="4672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42900" lvl="0" indent="-342900">
              <a:spcBef>
                <a:spcPts val="600"/>
              </a:spcBef>
              <a:buSzPts val="22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</a:p>
          <a:p>
            <a:pPr marL="342900" lvl="0" indent="-342900">
              <a:spcBef>
                <a:spcPts val="600"/>
              </a:spcBef>
              <a:buSzPts val="2200"/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Introduction</a:t>
            </a:r>
          </a:p>
          <a:p>
            <a:pPr marL="342900" indent="-342900">
              <a:spcBef>
                <a:spcPts val="600"/>
              </a:spcBef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Literature Review/ Background Study (Minimum 6 recent research article)</a:t>
            </a:r>
          </a:p>
          <a:p>
            <a:pPr marL="342900" lvl="0" indent="-342900">
              <a:spcBef>
                <a:spcPts val="600"/>
              </a:spcBef>
              <a:buSzPts val="22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 and Objectives</a:t>
            </a:r>
          </a:p>
          <a:p>
            <a:pPr marL="342900" lvl="0" indent="-342900">
              <a:spcBef>
                <a:spcPts val="600"/>
              </a:spcBef>
              <a:buSzPts val="2200"/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Methodology</a:t>
            </a:r>
          </a:p>
          <a:p>
            <a:pPr marL="342900" lvl="0" indent="-342900">
              <a:spcBef>
                <a:spcPts val="600"/>
              </a:spcBef>
              <a:buSzPts val="2200"/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Implementation</a:t>
            </a:r>
          </a:p>
          <a:p>
            <a:pPr marL="342900" lvl="0" indent="-342900">
              <a:spcBef>
                <a:spcPts val="600"/>
              </a:spcBef>
              <a:buSzPts val="2200"/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Results &amp; Discussion</a:t>
            </a:r>
          </a:p>
          <a:p>
            <a:pPr marL="342900" lvl="0" indent="-342900">
              <a:spcBef>
                <a:spcPts val="600"/>
              </a:spcBef>
              <a:buSzPts val="2200"/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Conclusion &amp; Future Work</a:t>
            </a:r>
            <a:endParaRPr lang="en-US" dirty="0"/>
          </a:p>
          <a:p>
            <a:pPr marL="342900" lvl="0" indent="-342900">
              <a:spcBef>
                <a:spcPts val="600"/>
              </a:spcBef>
              <a:buSzPts val="2200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11220400" y="6408364"/>
            <a:ext cx="731700" cy="401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56</Words>
  <Application>Microsoft Office PowerPoint</Application>
  <PresentationFormat>Widescreen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Georgia</vt:lpstr>
      <vt:lpstr>Archivo Narrow</vt:lpstr>
      <vt:lpstr>Yellowtail</vt:lpstr>
      <vt:lpstr>Archivo Narrow Medium</vt:lpstr>
      <vt:lpstr>Times New Roman</vt:lpstr>
      <vt:lpstr>Calibri</vt:lpstr>
      <vt:lpstr>IBM Plex Sans Condensed</vt:lpstr>
      <vt:lpstr>Arial</vt:lpstr>
      <vt:lpstr>Simple Light</vt:lpstr>
      <vt:lpstr>Project Title</vt:lpstr>
      <vt:lpstr>PPT Contents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 D</cp:lastModifiedBy>
  <cp:revision>2</cp:revision>
  <dcterms:modified xsi:type="dcterms:W3CDTF">2026-03-09T01:09:15Z</dcterms:modified>
</cp:coreProperties>
</file>